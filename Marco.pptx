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Spartan" charset="1" panose="00000800000000000000"/>
      <p:regular r:id="rId21"/>
    </p:embeddedFont>
    <p:embeddedFont>
      <p:font typeface="Montserrat Bold" charset="1" panose="00000800000000000000"/>
      <p:regular r:id="rId22"/>
    </p:embeddedFont>
    <p:embeddedFont>
      <p:font typeface="DM Sans Bold" charset="1" panose="00000000000000000000"/>
      <p:regular r:id="rId23"/>
    </p:embeddedFont>
    <p:embeddedFont>
      <p:font typeface="DM Sans" charset="1" panose="00000000000000000000"/>
      <p:regular r:id="rId24"/>
    </p:embeddedFont>
    <p:embeddedFont>
      <p:font typeface="Agrandir Bold" charset="1" panose="00000800000000000000"/>
      <p:regular r:id="rId25"/>
    </p:embeddedFont>
    <p:embeddedFont>
      <p:font typeface="Agrandir" charset="1" panose="00000500000000000000"/>
      <p:regular r:id="rId26"/>
    </p:embeddedFont>
    <p:embeddedFont>
      <p:font typeface="Canva Sans Bold" charset="1" panose="020B0803030501040103"/>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3704289" y="5834432"/>
            <a:ext cx="4645492" cy="4676556"/>
          </a:xfrm>
          <a:prstGeom prst="rect">
            <a:avLst/>
          </a:prstGeom>
        </p:spPr>
      </p:pic>
      <p:sp>
        <p:nvSpPr>
          <p:cNvPr name="TextBox 3" id="3"/>
          <p:cNvSpPr txBox="true"/>
          <p:nvPr/>
        </p:nvSpPr>
        <p:spPr>
          <a:xfrm rot="0">
            <a:off x="711211" y="2439816"/>
            <a:ext cx="16204908" cy="2444622"/>
          </a:xfrm>
          <a:prstGeom prst="rect">
            <a:avLst/>
          </a:prstGeom>
        </p:spPr>
        <p:txBody>
          <a:bodyPr anchor="t" rtlCol="false" tIns="0" lIns="0" bIns="0" rIns="0">
            <a:spAutoFit/>
          </a:bodyPr>
          <a:lstStyle/>
          <a:p>
            <a:pPr algn="l">
              <a:lnSpc>
                <a:spcPts val="6536"/>
              </a:lnSpc>
            </a:pPr>
            <a:r>
              <a:rPr lang="en-US" sz="4300" spc="223">
                <a:solidFill>
                  <a:srgbClr val="000000"/>
                </a:solidFill>
                <a:latin typeface="League Spartan"/>
                <a:ea typeface="League Spartan"/>
                <a:cs typeface="League Spartan"/>
                <a:sym typeface="League Spartan"/>
              </a:rPr>
              <a:t>A MULTIMODAL AGENTIC RAG</a:t>
            </a:r>
          </a:p>
          <a:p>
            <a:pPr algn="l">
              <a:lnSpc>
                <a:spcPts val="6536"/>
              </a:lnSpc>
            </a:pPr>
            <a:r>
              <a:rPr lang="en-US" sz="4300" spc="223">
                <a:solidFill>
                  <a:srgbClr val="000000"/>
                </a:solidFill>
                <a:latin typeface="League Spartan"/>
                <a:ea typeface="League Spartan"/>
                <a:cs typeface="League Spartan"/>
                <a:sym typeface="League Spartan"/>
              </a:rPr>
              <a:t>F</a:t>
            </a:r>
            <a:r>
              <a:rPr lang="en-US" sz="4300" spc="223">
                <a:solidFill>
                  <a:srgbClr val="000000"/>
                </a:solidFill>
                <a:latin typeface="League Spartan"/>
                <a:ea typeface="League Spartan"/>
                <a:cs typeface="League Spartan"/>
                <a:sym typeface="League Spartan"/>
              </a:rPr>
              <a:t>RAMEWORK FOR DEVOPS AND MICROSERVICE</a:t>
            </a:r>
          </a:p>
          <a:p>
            <a:pPr algn="l">
              <a:lnSpc>
                <a:spcPts val="6536"/>
              </a:lnSpc>
            </a:pPr>
            <a:r>
              <a:rPr lang="en-US" sz="4300" spc="223">
                <a:solidFill>
                  <a:srgbClr val="000000"/>
                </a:solidFill>
                <a:latin typeface="League Spartan"/>
                <a:ea typeface="League Spartan"/>
                <a:cs typeface="League Spartan"/>
                <a:sym typeface="League Spartan"/>
              </a:rPr>
              <a:t>ARCHITECTURE CONCEPT ALIGNMENT</a:t>
            </a:r>
          </a:p>
        </p:txBody>
      </p:sp>
      <p:sp>
        <p:nvSpPr>
          <p:cNvPr name="TextBox 4" id="4"/>
          <p:cNvSpPr txBox="true"/>
          <p:nvPr/>
        </p:nvSpPr>
        <p:spPr>
          <a:xfrm rot="0">
            <a:off x="239754" y="7101848"/>
            <a:ext cx="1692473" cy="323213"/>
          </a:xfrm>
          <a:prstGeom prst="rect">
            <a:avLst/>
          </a:prstGeom>
        </p:spPr>
        <p:txBody>
          <a:bodyPr anchor="t" rtlCol="false" tIns="0" lIns="0" bIns="0" rIns="0">
            <a:spAutoFit/>
          </a:bodyPr>
          <a:lstStyle/>
          <a:p>
            <a:pPr algn="ctr">
              <a:lnSpc>
                <a:spcPts val="2660"/>
              </a:lnSpc>
            </a:pPr>
            <a:r>
              <a:rPr lang="en-US" sz="1900" b="true">
                <a:solidFill>
                  <a:srgbClr val="303030"/>
                </a:solidFill>
                <a:latin typeface="Montserrat Bold"/>
                <a:ea typeface="Montserrat Bold"/>
                <a:cs typeface="Montserrat Bold"/>
                <a:sym typeface="Montserrat Bold"/>
              </a:rPr>
              <a:t>Presented By</a:t>
            </a:r>
          </a:p>
        </p:txBody>
      </p:sp>
      <p:sp>
        <p:nvSpPr>
          <p:cNvPr name="TextBox 5" id="5"/>
          <p:cNvSpPr txBox="true"/>
          <p:nvPr/>
        </p:nvSpPr>
        <p:spPr>
          <a:xfrm rot="0">
            <a:off x="416874" y="7646130"/>
            <a:ext cx="4469911" cy="1172255"/>
          </a:xfrm>
          <a:prstGeom prst="rect">
            <a:avLst/>
          </a:prstGeom>
        </p:spPr>
        <p:txBody>
          <a:bodyPr anchor="t" rtlCol="false" tIns="0" lIns="0" bIns="0" rIns="0">
            <a:spAutoFit/>
          </a:bodyPr>
          <a:lstStyle/>
          <a:p>
            <a:pPr algn="l">
              <a:lnSpc>
                <a:spcPts val="3189"/>
              </a:lnSpc>
            </a:pPr>
            <a:r>
              <a:rPr lang="en-US" sz="2277" b="true">
                <a:solidFill>
                  <a:srgbClr val="000000"/>
                </a:solidFill>
                <a:latin typeface="DM Sans Bold"/>
                <a:ea typeface="DM Sans Bold"/>
                <a:cs typeface="DM Sans Bold"/>
                <a:sym typeface="DM Sans Bold"/>
              </a:rPr>
              <a:t>Suresh Krishnan S</a:t>
            </a:r>
          </a:p>
          <a:p>
            <a:pPr algn="l">
              <a:lnSpc>
                <a:spcPts val="1968"/>
              </a:lnSpc>
            </a:pPr>
            <a:r>
              <a:rPr lang="en-US" sz="1405" b="true">
                <a:solidFill>
                  <a:srgbClr val="000000"/>
                </a:solidFill>
                <a:latin typeface="DM Sans Bold"/>
                <a:ea typeface="DM Sans Bold"/>
                <a:cs typeface="DM Sans Bold"/>
                <a:sym typeface="DM Sans Bold"/>
              </a:rPr>
              <a:t>Roll No:  22920</a:t>
            </a:r>
          </a:p>
          <a:p>
            <a:pPr algn="l">
              <a:lnSpc>
                <a:spcPts val="1968"/>
              </a:lnSpc>
            </a:pPr>
            <a:r>
              <a:rPr lang="en-US" sz="1405" b="true">
                <a:solidFill>
                  <a:srgbClr val="000000"/>
                </a:solidFill>
                <a:latin typeface="DM Sans Bold"/>
                <a:ea typeface="DM Sans Bold"/>
                <a:cs typeface="DM Sans Bold"/>
                <a:sym typeface="DM Sans Bold"/>
              </a:rPr>
              <a:t>Register No: 510622243020</a:t>
            </a:r>
          </a:p>
          <a:p>
            <a:pPr algn="l">
              <a:lnSpc>
                <a:spcPts val="2273"/>
              </a:lnSpc>
            </a:pPr>
          </a:p>
        </p:txBody>
      </p:sp>
      <p:sp>
        <p:nvSpPr>
          <p:cNvPr name="TextBox 6" id="6"/>
          <p:cNvSpPr txBox="true"/>
          <p:nvPr/>
        </p:nvSpPr>
        <p:spPr>
          <a:xfrm rot="0">
            <a:off x="3778356" y="7636605"/>
            <a:ext cx="4381804" cy="1146758"/>
          </a:xfrm>
          <a:prstGeom prst="rect">
            <a:avLst/>
          </a:prstGeom>
        </p:spPr>
        <p:txBody>
          <a:bodyPr anchor="t" rtlCol="false" tIns="0" lIns="0" bIns="0" rIns="0">
            <a:spAutoFit/>
          </a:bodyPr>
          <a:lstStyle/>
          <a:p>
            <a:pPr algn="l">
              <a:lnSpc>
                <a:spcPts val="3026"/>
              </a:lnSpc>
            </a:pPr>
            <a:r>
              <a:rPr lang="en-US" sz="2161" b="true">
                <a:solidFill>
                  <a:srgbClr val="000000"/>
                </a:solidFill>
                <a:latin typeface="DM Sans Bold"/>
                <a:ea typeface="DM Sans Bold"/>
                <a:cs typeface="DM Sans Bold"/>
                <a:sym typeface="DM Sans Bold"/>
              </a:rPr>
              <a:t>Mohammed Shahid S</a:t>
            </a:r>
          </a:p>
          <a:p>
            <a:pPr algn="l">
              <a:lnSpc>
                <a:spcPts val="1929"/>
              </a:lnSpc>
            </a:pPr>
            <a:r>
              <a:rPr lang="en-US" sz="1378" b="true">
                <a:solidFill>
                  <a:srgbClr val="000000"/>
                </a:solidFill>
                <a:latin typeface="DM Sans Bold"/>
                <a:ea typeface="DM Sans Bold"/>
                <a:cs typeface="DM Sans Bold"/>
                <a:sym typeface="DM Sans Bold"/>
              </a:rPr>
              <a:t>Roll No:  22920</a:t>
            </a:r>
          </a:p>
          <a:p>
            <a:pPr algn="l">
              <a:lnSpc>
                <a:spcPts val="1929"/>
              </a:lnSpc>
            </a:pPr>
            <a:r>
              <a:rPr lang="en-US" sz="1378" b="true">
                <a:solidFill>
                  <a:srgbClr val="000000"/>
                </a:solidFill>
                <a:latin typeface="DM Sans Bold"/>
                <a:ea typeface="DM Sans Bold"/>
                <a:cs typeface="DM Sans Bold"/>
                <a:sym typeface="DM Sans Bold"/>
              </a:rPr>
              <a:t>Register No: 510622243020</a:t>
            </a:r>
          </a:p>
          <a:p>
            <a:pPr algn="l">
              <a:lnSpc>
                <a:spcPts val="2228"/>
              </a:lnSpc>
            </a:pPr>
          </a:p>
        </p:txBody>
      </p:sp>
      <p:sp>
        <p:nvSpPr>
          <p:cNvPr name="TextBox 7" id="7"/>
          <p:cNvSpPr txBox="true"/>
          <p:nvPr/>
        </p:nvSpPr>
        <p:spPr>
          <a:xfrm rot="0">
            <a:off x="7414118" y="7566593"/>
            <a:ext cx="4954181" cy="1197795"/>
          </a:xfrm>
          <a:prstGeom prst="rect">
            <a:avLst/>
          </a:prstGeom>
        </p:spPr>
        <p:txBody>
          <a:bodyPr anchor="t" rtlCol="false" tIns="0" lIns="0" bIns="0" rIns="0">
            <a:spAutoFit/>
          </a:bodyPr>
          <a:lstStyle/>
          <a:p>
            <a:pPr algn="l">
              <a:lnSpc>
                <a:spcPts val="3232"/>
              </a:lnSpc>
            </a:pPr>
            <a:r>
              <a:rPr lang="en-US" sz="2308" b="true">
                <a:solidFill>
                  <a:srgbClr val="000000"/>
                </a:solidFill>
                <a:latin typeface="DM Sans Bold"/>
                <a:ea typeface="DM Sans Bold"/>
                <a:cs typeface="DM Sans Bold"/>
                <a:sym typeface="DM Sans Bold"/>
              </a:rPr>
              <a:t>Dhanush B</a:t>
            </a:r>
          </a:p>
          <a:p>
            <a:pPr algn="l">
              <a:lnSpc>
                <a:spcPts val="2034"/>
              </a:lnSpc>
            </a:pPr>
            <a:r>
              <a:rPr lang="en-US" sz="1452" b="true">
                <a:solidFill>
                  <a:srgbClr val="000000"/>
                </a:solidFill>
                <a:latin typeface="DM Sans Bold"/>
                <a:ea typeface="DM Sans Bold"/>
                <a:cs typeface="DM Sans Bold"/>
                <a:sym typeface="DM Sans Bold"/>
              </a:rPr>
              <a:t>Roll No:  22904</a:t>
            </a:r>
          </a:p>
          <a:p>
            <a:pPr algn="l">
              <a:lnSpc>
                <a:spcPts val="1971"/>
              </a:lnSpc>
            </a:pPr>
            <a:r>
              <a:rPr lang="en-US" sz="1408" b="true">
                <a:solidFill>
                  <a:srgbClr val="000000"/>
                </a:solidFill>
                <a:latin typeface="DM Sans Bold"/>
                <a:ea typeface="DM Sans Bold"/>
                <a:cs typeface="DM Sans Bold"/>
                <a:sym typeface="DM Sans Bold"/>
              </a:rPr>
              <a:t>Register No: 510622243004</a:t>
            </a:r>
          </a:p>
          <a:p>
            <a:pPr algn="l">
              <a:lnSpc>
                <a:spcPts val="2277"/>
              </a:lnSpc>
            </a:pPr>
          </a:p>
        </p:txBody>
      </p:sp>
      <p:sp>
        <p:nvSpPr>
          <p:cNvPr name="TextBox 8" id="8"/>
          <p:cNvSpPr txBox="true"/>
          <p:nvPr/>
        </p:nvSpPr>
        <p:spPr>
          <a:xfrm rot="0">
            <a:off x="239754" y="8789810"/>
            <a:ext cx="1213084" cy="279919"/>
          </a:xfrm>
          <a:prstGeom prst="rect">
            <a:avLst/>
          </a:prstGeom>
        </p:spPr>
        <p:txBody>
          <a:bodyPr anchor="t" rtlCol="false" tIns="0" lIns="0" bIns="0" rIns="0">
            <a:spAutoFit/>
          </a:bodyPr>
          <a:lstStyle/>
          <a:p>
            <a:pPr algn="ctr">
              <a:lnSpc>
                <a:spcPts val="2345"/>
              </a:lnSpc>
            </a:pPr>
            <a:r>
              <a:rPr lang="en-US" sz="1675" b="true">
                <a:solidFill>
                  <a:srgbClr val="303030"/>
                </a:solidFill>
                <a:latin typeface="Montserrat Bold"/>
                <a:ea typeface="Montserrat Bold"/>
                <a:cs typeface="Montserrat Bold"/>
                <a:sym typeface="Montserrat Bold"/>
              </a:rPr>
              <a:t>Guided  By</a:t>
            </a:r>
          </a:p>
        </p:txBody>
      </p:sp>
      <p:sp>
        <p:nvSpPr>
          <p:cNvPr name="TextBox 9" id="9"/>
          <p:cNvSpPr txBox="true"/>
          <p:nvPr/>
        </p:nvSpPr>
        <p:spPr>
          <a:xfrm rot="0">
            <a:off x="571744" y="9060204"/>
            <a:ext cx="4386948" cy="1310193"/>
          </a:xfrm>
          <a:prstGeom prst="rect">
            <a:avLst/>
          </a:prstGeom>
        </p:spPr>
        <p:txBody>
          <a:bodyPr anchor="t" rtlCol="false" tIns="0" lIns="0" bIns="0" rIns="0">
            <a:spAutoFit/>
          </a:bodyPr>
          <a:lstStyle/>
          <a:p>
            <a:pPr algn="l">
              <a:lnSpc>
                <a:spcPts val="3129"/>
              </a:lnSpc>
            </a:pPr>
            <a:r>
              <a:rPr lang="en-US" sz="2235" b="true">
                <a:solidFill>
                  <a:srgbClr val="000000"/>
                </a:solidFill>
                <a:latin typeface="DM Sans Bold"/>
                <a:ea typeface="DM Sans Bold"/>
                <a:cs typeface="DM Sans Bold"/>
                <a:sym typeface="DM Sans Bold"/>
              </a:rPr>
              <a:t>Mrs . Saranya R </a:t>
            </a:r>
          </a:p>
          <a:p>
            <a:pPr algn="l">
              <a:lnSpc>
                <a:spcPts val="3129"/>
              </a:lnSpc>
            </a:pPr>
            <a:r>
              <a:rPr lang="en-US" sz="2235" b="true">
                <a:solidFill>
                  <a:srgbClr val="000000"/>
                </a:solidFill>
                <a:latin typeface="DM Sans Bold"/>
                <a:ea typeface="DM Sans Bold"/>
                <a:cs typeface="DM Sans Bold"/>
                <a:sym typeface="DM Sans Bold"/>
              </a:rPr>
              <a:t>APT. Dept. AI and DS</a:t>
            </a:r>
          </a:p>
          <a:p>
            <a:pPr algn="l">
              <a:lnSpc>
                <a:spcPts val="1931"/>
              </a:lnSpc>
            </a:pPr>
          </a:p>
          <a:p>
            <a:pPr algn="l">
              <a:lnSpc>
                <a:spcPts val="2231"/>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7977" y="2396602"/>
            <a:ext cx="16471188" cy="986486"/>
            <a:chOff x="0" y="0"/>
            <a:chExt cx="4338091" cy="259815"/>
          </a:xfrm>
        </p:grpSpPr>
        <p:sp>
          <p:nvSpPr>
            <p:cNvPr name="Freeform 3" id="3"/>
            <p:cNvSpPr/>
            <p:nvPr/>
          </p:nvSpPr>
          <p:spPr>
            <a:xfrm flipH="false" flipV="false" rot="0">
              <a:off x="0" y="0"/>
              <a:ext cx="4338091" cy="259815"/>
            </a:xfrm>
            <a:custGeom>
              <a:avLst/>
              <a:gdLst/>
              <a:ahLst/>
              <a:cxnLst/>
              <a:rect r="r" b="b" t="t" l="l"/>
              <a:pathLst>
                <a:path h="259815" w="4338091">
                  <a:moveTo>
                    <a:pt x="17391" y="0"/>
                  </a:moveTo>
                  <a:lnTo>
                    <a:pt x="4320699" y="0"/>
                  </a:lnTo>
                  <a:cubicBezTo>
                    <a:pt x="4325312" y="0"/>
                    <a:pt x="4329735" y="1832"/>
                    <a:pt x="4332997" y="5094"/>
                  </a:cubicBezTo>
                  <a:cubicBezTo>
                    <a:pt x="4336258" y="8355"/>
                    <a:pt x="4338091" y="12779"/>
                    <a:pt x="4338091" y="17391"/>
                  </a:cubicBezTo>
                  <a:lnTo>
                    <a:pt x="4338091" y="242424"/>
                  </a:lnTo>
                  <a:cubicBezTo>
                    <a:pt x="4338091" y="252029"/>
                    <a:pt x="4330304" y="259815"/>
                    <a:pt x="4320699" y="259815"/>
                  </a:cubicBezTo>
                  <a:lnTo>
                    <a:pt x="17391" y="259815"/>
                  </a:lnTo>
                  <a:cubicBezTo>
                    <a:pt x="12779" y="259815"/>
                    <a:pt x="8355" y="257983"/>
                    <a:pt x="5094" y="254722"/>
                  </a:cubicBezTo>
                  <a:cubicBezTo>
                    <a:pt x="1832" y="251460"/>
                    <a:pt x="0" y="247037"/>
                    <a:pt x="0" y="242424"/>
                  </a:cubicBezTo>
                  <a:lnTo>
                    <a:pt x="0" y="17391"/>
                  </a:lnTo>
                  <a:cubicBezTo>
                    <a:pt x="0" y="12779"/>
                    <a:pt x="1832" y="8355"/>
                    <a:pt x="5094" y="5094"/>
                  </a:cubicBezTo>
                  <a:cubicBezTo>
                    <a:pt x="8355" y="1832"/>
                    <a:pt x="12779" y="0"/>
                    <a:pt x="17391" y="0"/>
                  </a:cubicBezTo>
                  <a:close/>
                </a:path>
              </a:pathLst>
            </a:custGeom>
            <a:solidFill>
              <a:srgbClr val="393939"/>
            </a:solidFill>
            <a:ln w="47625" cap="rnd">
              <a:solidFill>
                <a:srgbClr val="FDD56F"/>
              </a:solidFill>
              <a:prstDash val="solid"/>
              <a:round/>
            </a:ln>
          </p:spPr>
        </p:sp>
        <p:sp>
          <p:nvSpPr>
            <p:cNvPr name="TextBox 4" id="4"/>
            <p:cNvSpPr txBox="true"/>
            <p:nvPr/>
          </p:nvSpPr>
          <p:spPr>
            <a:xfrm>
              <a:off x="0" y="-38100"/>
              <a:ext cx="4338091" cy="29791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2448372"/>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Abstract</a:t>
            </a:r>
          </a:p>
        </p:txBody>
      </p:sp>
      <p:grpSp>
        <p:nvGrpSpPr>
          <p:cNvPr name="Group 6" id="6"/>
          <p:cNvGrpSpPr/>
          <p:nvPr/>
        </p:nvGrpSpPr>
        <p:grpSpPr>
          <a:xfrm rot="0">
            <a:off x="1028700" y="3814398"/>
            <a:ext cx="16230600" cy="986486"/>
            <a:chOff x="0" y="0"/>
            <a:chExt cx="4274726" cy="259815"/>
          </a:xfrm>
        </p:grpSpPr>
        <p:sp>
          <p:nvSpPr>
            <p:cNvPr name="Freeform 7" id="7"/>
            <p:cNvSpPr/>
            <p:nvPr/>
          </p:nvSpPr>
          <p:spPr>
            <a:xfrm flipH="false" flipV="false" rot="0">
              <a:off x="0" y="0"/>
              <a:ext cx="4274726" cy="259815"/>
            </a:xfrm>
            <a:custGeom>
              <a:avLst/>
              <a:gdLst/>
              <a:ahLst/>
              <a:cxnLst/>
              <a:rect r="r" b="b" t="t" l="l"/>
              <a:pathLst>
                <a:path h="259815" w="4274726">
                  <a:moveTo>
                    <a:pt x="17649" y="0"/>
                  </a:moveTo>
                  <a:lnTo>
                    <a:pt x="4257077" y="0"/>
                  </a:lnTo>
                  <a:cubicBezTo>
                    <a:pt x="4266824" y="0"/>
                    <a:pt x="4274726" y="7902"/>
                    <a:pt x="4274726" y="17649"/>
                  </a:cubicBezTo>
                  <a:lnTo>
                    <a:pt x="4274726" y="242166"/>
                  </a:lnTo>
                  <a:cubicBezTo>
                    <a:pt x="4274726" y="251914"/>
                    <a:pt x="4266824" y="259815"/>
                    <a:pt x="4257077" y="259815"/>
                  </a:cubicBezTo>
                  <a:lnTo>
                    <a:pt x="17649" y="259815"/>
                  </a:lnTo>
                  <a:cubicBezTo>
                    <a:pt x="12968" y="259815"/>
                    <a:pt x="8479" y="257956"/>
                    <a:pt x="5169" y="254646"/>
                  </a:cubicBezTo>
                  <a:cubicBezTo>
                    <a:pt x="1859" y="251336"/>
                    <a:pt x="0" y="246847"/>
                    <a:pt x="0" y="242166"/>
                  </a:cubicBezTo>
                  <a:lnTo>
                    <a:pt x="0" y="17649"/>
                  </a:lnTo>
                  <a:cubicBezTo>
                    <a:pt x="0" y="12968"/>
                    <a:pt x="1859" y="8479"/>
                    <a:pt x="5169" y="5169"/>
                  </a:cubicBezTo>
                  <a:cubicBezTo>
                    <a:pt x="8479" y="1859"/>
                    <a:pt x="12968" y="0"/>
                    <a:pt x="17649" y="0"/>
                  </a:cubicBezTo>
                  <a:close/>
                </a:path>
              </a:pathLst>
            </a:custGeom>
            <a:solidFill>
              <a:srgbClr val="393939"/>
            </a:solidFill>
            <a:ln w="47625" cap="rnd">
              <a:solidFill>
                <a:srgbClr val="FDD56F"/>
              </a:solidFill>
              <a:prstDash val="solid"/>
              <a:round/>
            </a:ln>
          </p:spPr>
        </p:sp>
        <p:sp>
          <p:nvSpPr>
            <p:cNvPr name="TextBox 8" id="8"/>
            <p:cNvSpPr txBox="true"/>
            <p:nvPr/>
          </p:nvSpPr>
          <p:spPr>
            <a:xfrm>
              <a:off x="0" y="-38100"/>
              <a:ext cx="4274726" cy="29791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3853958"/>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Objective</a:t>
            </a:r>
          </a:p>
        </p:txBody>
      </p:sp>
      <p:grpSp>
        <p:nvGrpSpPr>
          <p:cNvPr name="Group 10" id="10"/>
          <p:cNvGrpSpPr/>
          <p:nvPr/>
        </p:nvGrpSpPr>
        <p:grpSpPr>
          <a:xfrm rot="0">
            <a:off x="1028700" y="5143500"/>
            <a:ext cx="16230600" cy="986486"/>
            <a:chOff x="0" y="0"/>
            <a:chExt cx="4274726" cy="259815"/>
          </a:xfrm>
        </p:grpSpPr>
        <p:sp>
          <p:nvSpPr>
            <p:cNvPr name="Freeform 11" id="11"/>
            <p:cNvSpPr/>
            <p:nvPr/>
          </p:nvSpPr>
          <p:spPr>
            <a:xfrm flipH="false" flipV="false" rot="0">
              <a:off x="0" y="0"/>
              <a:ext cx="4274726" cy="259815"/>
            </a:xfrm>
            <a:custGeom>
              <a:avLst/>
              <a:gdLst/>
              <a:ahLst/>
              <a:cxnLst/>
              <a:rect r="r" b="b" t="t" l="l"/>
              <a:pathLst>
                <a:path h="259815" w="4274726">
                  <a:moveTo>
                    <a:pt x="17649" y="0"/>
                  </a:moveTo>
                  <a:lnTo>
                    <a:pt x="4257077" y="0"/>
                  </a:lnTo>
                  <a:cubicBezTo>
                    <a:pt x="4266824" y="0"/>
                    <a:pt x="4274726" y="7902"/>
                    <a:pt x="4274726" y="17649"/>
                  </a:cubicBezTo>
                  <a:lnTo>
                    <a:pt x="4274726" y="242166"/>
                  </a:lnTo>
                  <a:cubicBezTo>
                    <a:pt x="4274726" y="251914"/>
                    <a:pt x="4266824" y="259815"/>
                    <a:pt x="4257077" y="259815"/>
                  </a:cubicBezTo>
                  <a:lnTo>
                    <a:pt x="17649" y="259815"/>
                  </a:lnTo>
                  <a:cubicBezTo>
                    <a:pt x="12968" y="259815"/>
                    <a:pt x="8479" y="257956"/>
                    <a:pt x="5169" y="254646"/>
                  </a:cubicBezTo>
                  <a:cubicBezTo>
                    <a:pt x="1859" y="251336"/>
                    <a:pt x="0" y="246847"/>
                    <a:pt x="0" y="242166"/>
                  </a:cubicBezTo>
                  <a:lnTo>
                    <a:pt x="0" y="17649"/>
                  </a:lnTo>
                  <a:cubicBezTo>
                    <a:pt x="0" y="12968"/>
                    <a:pt x="1859" y="8479"/>
                    <a:pt x="5169" y="5169"/>
                  </a:cubicBezTo>
                  <a:cubicBezTo>
                    <a:pt x="8479" y="1859"/>
                    <a:pt x="12968" y="0"/>
                    <a:pt x="17649" y="0"/>
                  </a:cubicBezTo>
                  <a:close/>
                </a:path>
              </a:pathLst>
            </a:custGeom>
            <a:solidFill>
              <a:srgbClr val="393939"/>
            </a:solidFill>
            <a:ln w="47625" cap="rnd">
              <a:solidFill>
                <a:srgbClr val="FDD56F"/>
              </a:solidFill>
              <a:prstDash val="solid"/>
              <a:round/>
            </a:ln>
          </p:spPr>
        </p:sp>
        <p:sp>
          <p:nvSpPr>
            <p:cNvPr name="TextBox 12" id="12"/>
            <p:cNvSpPr txBox="true"/>
            <p:nvPr/>
          </p:nvSpPr>
          <p:spPr>
            <a:xfrm>
              <a:off x="0" y="-38100"/>
              <a:ext cx="4274726" cy="29791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126584" y="5153897"/>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Scope</a:t>
            </a:r>
          </a:p>
        </p:txBody>
      </p:sp>
      <p:sp>
        <p:nvSpPr>
          <p:cNvPr name="TextBox 14" id="14"/>
          <p:cNvSpPr txBox="true"/>
          <p:nvPr/>
        </p:nvSpPr>
        <p:spPr>
          <a:xfrm rot="0">
            <a:off x="5999849" y="3904496"/>
            <a:ext cx="761914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Disadvantage</a:t>
            </a:r>
          </a:p>
        </p:txBody>
      </p:sp>
      <p:sp>
        <p:nvSpPr>
          <p:cNvPr name="TextBox 15" id="15"/>
          <p:cNvSpPr txBox="true"/>
          <p:nvPr/>
        </p:nvSpPr>
        <p:spPr>
          <a:xfrm rot="0">
            <a:off x="5999849" y="2390418"/>
            <a:ext cx="5094018" cy="741680"/>
          </a:xfrm>
          <a:prstGeom prst="rect">
            <a:avLst/>
          </a:prstGeom>
        </p:spPr>
        <p:txBody>
          <a:bodyPr anchor="t" rtlCol="false" tIns="0" lIns="0" bIns="0" rIns="0">
            <a:spAutoFit/>
          </a:bodyPr>
          <a:lstStyle/>
          <a:p>
            <a:pPr algn="just" marL="690881" indent="-345440" lvl="1">
              <a:lnSpc>
                <a:spcPts val="6400"/>
              </a:lnSpc>
              <a:buFont typeface="Arial"/>
              <a:buChar char="•"/>
            </a:pPr>
            <a:r>
              <a:rPr lang="en-US" sz="3200" spc="-108">
                <a:solidFill>
                  <a:srgbClr val="FFFFFF"/>
                </a:solidFill>
                <a:latin typeface="DM Sans"/>
                <a:ea typeface="DM Sans"/>
                <a:cs typeface="DM Sans"/>
                <a:sym typeface="DM Sans"/>
              </a:rPr>
              <a:t>Existing Solution</a:t>
            </a:r>
          </a:p>
        </p:txBody>
      </p:sp>
      <p:sp>
        <p:nvSpPr>
          <p:cNvPr name="TextBox 16" id="16"/>
          <p:cNvSpPr txBox="true"/>
          <p:nvPr/>
        </p:nvSpPr>
        <p:spPr>
          <a:xfrm rot="0">
            <a:off x="6122718" y="5097334"/>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Proposed System</a:t>
            </a:r>
          </a:p>
        </p:txBody>
      </p:sp>
      <p:sp>
        <p:nvSpPr>
          <p:cNvPr name="TextBox 17" id="17"/>
          <p:cNvSpPr txBox="true"/>
          <p:nvPr/>
        </p:nvSpPr>
        <p:spPr>
          <a:xfrm rot="0">
            <a:off x="4700381" y="774642"/>
            <a:ext cx="8297704" cy="1358951"/>
          </a:xfrm>
          <a:prstGeom prst="rect">
            <a:avLst/>
          </a:prstGeom>
        </p:spPr>
        <p:txBody>
          <a:bodyPr anchor="t" rtlCol="false" tIns="0" lIns="0" bIns="0" rIns="0">
            <a:spAutoFit/>
          </a:bodyPr>
          <a:lstStyle/>
          <a:p>
            <a:pPr algn="ctr">
              <a:lnSpc>
                <a:spcPts val="7600"/>
              </a:lnSpc>
            </a:pPr>
            <a:r>
              <a:rPr lang="en-US" b="true" sz="9501" spc="-418">
                <a:solidFill>
                  <a:srgbClr val="000000"/>
                </a:solidFill>
                <a:latin typeface="Agrandir Bold"/>
                <a:ea typeface="Agrandir Bold"/>
                <a:cs typeface="Agrandir Bold"/>
                <a:sym typeface="Agrandir Bold"/>
              </a:rPr>
              <a:t>Overview</a:t>
            </a:r>
          </a:p>
        </p:txBody>
      </p:sp>
      <p:sp>
        <p:nvSpPr>
          <p:cNvPr name="Freeform 18" id="18"/>
          <p:cNvSpPr/>
          <p:nvPr/>
        </p:nvSpPr>
        <p:spPr>
          <a:xfrm flipH="false" flipV="false" rot="0">
            <a:off x="-224704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9" id="19"/>
          <p:cNvGrpSpPr/>
          <p:nvPr/>
        </p:nvGrpSpPr>
        <p:grpSpPr>
          <a:xfrm rot="0">
            <a:off x="1028700" y="6472886"/>
            <a:ext cx="16230600" cy="986486"/>
            <a:chOff x="0" y="0"/>
            <a:chExt cx="4274726" cy="259815"/>
          </a:xfrm>
        </p:grpSpPr>
        <p:sp>
          <p:nvSpPr>
            <p:cNvPr name="Freeform 20" id="20"/>
            <p:cNvSpPr/>
            <p:nvPr/>
          </p:nvSpPr>
          <p:spPr>
            <a:xfrm flipH="false" flipV="false" rot="0">
              <a:off x="0" y="0"/>
              <a:ext cx="4274726" cy="259815"/>
            </a:xfrm>
            <a:custGeom>
              <a:avLst/>
              <a:gdLst/>
              <a:ahLst/>
              <a:cxnLst/>
              <a:rect r="r" b="b" t="t" l="l"/>
              <a:pathLst>
                <a:path h="259815" w="4274726">
                  <a:moveTo>
                    <a:pt x="17649" y="0"/>
                  </a:moveTo>
                  <a:lnTo>
                    <a:pt x="4257077" y="0"/>
                  </a:lnTo>
                  <a:cubicBezTo>
                    <a:pt x="4266824" y="0"/>
                    <a:pt x="4274726" y="7902"/>
                    <a:pt x="4274726" y="17649"/>
                  </a:cubicBezTo>
                  <a:lnTo>
                    <a:pt x="4274726" y="242166"/>
                  </a:lnTo>
                  <a:cubicBezTo>
                    <a:pt x="4274726" y="251914"/>
                    <a:pt x="4266824" y="259815"/>
                    <a:pt x="4257077" y="259815"/>
                  </a:cubicBezTo>
                  <a:lnTo>
                    <a:pt x="17649" y="259815"/>
                  </a:lnTo>
                  <a:cubicBezTo>
                    <a:pt x="12968" y="259815"/>
                    <a:pt x="8479" y="257956"/>
                    <a:pt x="5169" y="254646"/>
                  </a:cubicBezTo>
                  <a:cubicBezTo>
                    <a:pt x="1859" y="251336"/>
                    <a:pt x="0" y="246847"/>
                    <a:pt x="0" y="242166"/>
                  </a:cubicBezTo>
                  <a:lnTo>
                    <a:pt x="0" y="17649"/>
                  </a:lnTo>
                  <a:cubicBezTo>
                    <a:pt x="0" y="12968"/>
                    <a:pt x="1859" y="8479"/>
                    <a:pt x="5169" y="5169"/>
                  </a:cubicBezTo>
                  <a:cubicBezTo>
                    <a:pt x="8479" y="1859"/>
                    <a:pt x="12968" y="0"/>
                    <a:pt x="17649" y="0"/>
                  </a:cubicBezTo>
                  <a:close/>
                </a:path>
              </a:pathLst>
            </a:custGeom>
            <a:solidFill>
              <a:srgbClr val="393939"/>
            </a:solidFill>
            <a:ln w="47625" cap="rnd">
              <a:solidFill>
                <a:srgbClr val="FDD56F"/>
              </a:solidFill>
              <a:prstDash val="solid"/>
              <a:round/>
            </a:ln>
          </p:spPr>
        </p:sp>
        <p:sp>
          <p:nvSpPr>
            <p:cNvPr name="TextBox 21" id="21"/>
            <p:cNvSpPr txBox="true"/>
            <p:nvPr/>
          </p:nvSpPr>
          <p:spPr>
            <a:xfrm>
              <a:off x="0" y="-38100"/>
              <a:ext cx="4274726" cy="29791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126584" y="6444311"/>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Problem Statement</a:t>
            </a:r>
          </a:p>
        </p:txBody>
      </p:sp>
      <p:sp>
        <p:nvSpPr>
          <p:cNvPr name="TextBox 23" id="23"/>
          <p:cNvSpPr txBox="true"/>
          <p:nvPr/>
        </p:nvSpPr>
        <p:spPr>
          <a:xfrm rot="0">
            <a:off x="6220602" y="6444311"/>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Advantage</a:t>
            </a:r>
          </a:p>
        </p:txBody>
      </p:sp>
      <p:grpSp>
        <p:nvGrpSpPr>
          <p:cNvPr name="Group 24" id="24"/>
          <p:cNvGrpSpPr/>
          <p:nvPr/>
        </p:nvGrpSpPr>
        <p:grpSpPr>
          <a:xfrm rot="0">
            <a:off x="1028700" y="7820312"/>
            <a:ext cx="16230600" cy="986486"/>
            <a:chOff x="0" y="0"/>
            <a:chExt cx="4274726" cy="259815"/>
          </a:xfrm>
        </p:grpSpPr>
        <p:sp>
          <p:nvSpPr>
            <p:cNvPr name="Freeform 25" id="25"/>
            <p:cNvSpPr/>
            <p:nvPr/>
          </p:nvSpPr>
          <p:spPr>
            <a:xfrm flipH="false" flipV="false" rot="0">
              <a:off x="0" y="0"/>
              <a:ext cx="4274726" cy="259815"/>
            </a:xfrm>
            <a:custGeom>
              <a:avLst/>
              <a:gdLst/>
              <a:ahLst/>
              <a:cxnLst/>
              <a:rect r="r" b="b" t="t" l="l"/>
              <a:pathLst>
                <a:path h="259815" w="4274726">
                  <a:moveTo>
                    <a:pt x="17649" y="0"/>
                  </a:moveTo>
                  <a:lnTo>
                    <a:pt x="4257077" y="0"/>
                  </a:lnTo>
                  <a:cubicBezTo>
                    <a:pt x="4266824" y="0"/>
                    <a:pt x="4274726" y="7902"/>
                    <a:pt x="4274726" y="17649"/>
                  </a:cubicBezTo>
                  <a:lnTo>
                    <a:pt x="4274726" y="242166"/>
                  </a:lnTo>
                  <a:cubicBezTo>
                    <a:pt x="4274726" y="251914"/>
                    <a:pt x="4266824" y="259815"/>
                    <a:pt x="4257077" y="259815"/>
                  </a:cubicBezTo>
                  <a:lnTo>
                    <a:pt x="17649" y="259815"/>
                  </a:lnTo>
                  <a:cubicBezTo>
                    <a:pt x="12968" y="259815"/>
                    <a:pt x="8479" y="257956"/>
                    <a:pt x="5169" y="254646"/>
                  </a:cubicBezTo>
                  <a:cubicBezTo>
                    <a:pt x="1859" y="251336"/>
                    <a:pt x="0" y="246847"/>
                    <a:pt x="0" y="242166"/>
                  </a:cubicBezTo>
                  <a:lnTo>
                    <a:pt x="0" y="17649"/>
                  </a:lnTo>
                  <a:cubicBezTo>
                    <a:pt x="0" y="12968"/>
                    <a:pt x="1859" y="8479"/>
                    <a:pt x="5169" y="5169"/>
                  </a:cubicBezTo>
                  <a:cubicBezTo>
                    <a:pt x="8479" y="1859"/>
                    <a:pt x="12968" y="0"/>
                    <a:pt x="17649" y="0"/>
                  </a:cubicBezTo>
                  <a:close/>
                </a:path>
              </a:pathLst>
            </a:custGeom>
            <a:solidFill>
              <a:srgbClr val="393939"/>
            </a:solidFill>
            <a:ln w="47625" cap="rnd">
              <a:solidFill>
                <a:srgbClr val="FDD56F"/>
              </a:solidFill>
              <a:prstDash val="solid"/>
              <a:round/>
            </a:ln>
          </p:spPr>
        </p:sp>
        <p:sp>
          <p:nvSpPr>
            <p:cNvPr name="TextBox 26" id="26"/>
            <p:cNvSpPr txBox="true"/>
            <p:nvPr/>
          </p:nvSpPr>
          <p:spPr>
            <a:xfrm>
              <a:off x="0" y="-38100"/>
              <a:ext cx="4274726" cy="297915"/>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126584" y="7773697"/>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literature Survey</a:t>
            </a:r>
          </a:p>
        </p:txBody>
      </p:sp>
      <p:sp>
        <p:nvSpPr>
          <p:cNvPr name="TextBox 28" id="28"/>
          <p:cNvSpPr txBox="true"/>
          <p:nvPr/>
        </p:nvSpPr>
        <p:spPr>
          <a:xfrm rot="0">
            <a:off x="6302224" y="7830567"/>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System Architecture</a:t>
            </a:r>
          </a:p>
        </p:txBody>
      </p:sp>
      <p:sp>
        <p:nvSpPr>
          <p:cNvPr name="TextBox 29" id="29"/>
          <p:cNvSpPr txBox="true"/>
          <p:nvPr/>
        </p:nvSpPr>
        <p:spPr>
          <a:xfrm rot="0">
            <a:off x="11396242" y="2409468"/>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System Requirements</a:t>
            </a:r>
          </a:p>
        </p:txBody>
      </p:sp>
      <p:sp>
        <p:nvSpPr>
          <p:cNvPr name="TextBox 30" id="30"/>
          <p:cNvSpPr txBox="true"/>
          <p:nvPr/>
        </p:nvSpPr>
        <p:spPr>
          <a:xfrm rot="0">
            <a:off x="11396242" y="3780306"/>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Models Description</a:t>
            </a:r>
          </a:p>
        </p:txBody>
      </p:sp>
      <p:sp>
        <p:nvSpPr>
          <p:cNvPr name="TextBox 31" id="31"/>
          <p:cNvSpPr txBox="true"/>
          <p:nvPr/>
        </p:nvSpPr>
        <p:spPr>
          <a:xfrm rot="0">
            <a:off x="11578076" y="5153897"/>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Implementations</a:t>
            </a:r>
          </a:p>
        </p:txBody>
      </p:sp>
      <p:sp>
        <p:nvSpPr>
          <p:cNvPr name="TextBox 32" id="32"/>
          <p:cNvSpPr txBox="true"/>
          <p:nvPr/>
        </p:nvSpPr>
        <p:spPr>
          <a:xfrm rot="0">
            <a:off x="11578076" y="6492161"/>
            <a:ext cx="5094018" cy="727852"/>
          </a:xfrm>
          <a:prstGeom prst="rect">
            <a:avLst/>
          </a:prstGeom>
        </p:spPr>
        <p:txBody>
          <a:bodyPr anchor="t" rtlCol="false" tIns="0" lIns="0" bIns="0" rIns="0">
            <a:spAutoFit/>
          </a:bodyPr>
          <a:lstStyle/>
          <a:p>
            <a:pPr algn="just" marL="700024" indent="-350012" lvl="1">
              <a:lnSpc>
                <a:spcPts val="6484"/>
              </a:lnSpc>
              <a:buFont typeface="Arial"/>
              <a:buChar char="•"/>
            </a:pPr>
            <a:r>
              <a:rPr lang="en-US" sz="3242" spc="-110">
                <a:solidFill>
                  <a:srgbClr val="FFFFFF"/>
                </a:solidFill>
                <a:latin typeface="DM Sans"/>
                <a:ea typeface="DM Sans"/>
                <a:cs typeface="DM Sans"/>
                <a:sym typeface="DM Sans"/>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73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34789" y="2639723"/>
            <a:ext cx="15218423" cy="6853011"/>
          </a:xfrm>
          <a:prstGeom prst="rect">
            <a:avLst/>
          </a:prstGeom>
        </p:spPr>
        <p:txBody>
          <a:bodyPr anchor="t" rtlCol="false" tIns="0" lIns="0" bIns="0" rIns="0">
            <a:spAutoFit/>
          </a:bodyPr>
          <a:lstStyle/>
          <a:p>
            <a:pPr algn="just">
              <a:lnSpc>
                <a:spcPts val="4973"/>
              </a:lnSpc>
            </a:pPr>
            <a:r>
              <a:rPr lang="en-US" sz="2486" spc="-84">
                <a:solidFill>
                  <a:srgbClr val="000000"/>
                </a:solidFill>
                <a:latin typeface="DM Sans"/>
                <a:ea typeface="DM Sans"/>
                <a:cs typeface="DM Sans"/>
                <a:sym typeface="DM Sans"/>
              </a:rPr>
              <a:t>Aligning DevOps practices with Microservice Architecture (MSA) requires highly accurate decision-support tools. However, current standard Retrieval-Augmented Generation (RAG) systems rely on linear pipelines that frequently hallucinate when retrieving irrelevant evidence and fail to process real-world engineering artifacts. </a:t>
            </a:r>
          </a:p>
          <a:p>
            <a:pPr algn="l">
              <a:lnSpc>
                <a:spcPts val="4973"/>
              </a:lnSpc>
            </a:pPr>
          </a:p>
          <a:p>
            <a:pPr algn="just">
              <a:lnSpc>
                <a:spcPts val="4973"/>
              </a:lnSpc>
              <a:spcBef>
                <a:spcPct val="0"/>
              </a:spcBef>
            </a:pPr>
            <a:r>
              <a:rPr lang="en-US" sz="2486" spc="-84">
                <a:solidFill>
                  <a:srgbClr val="000000"/>
                </a:solidFill>
                <a:latin typeface="DM Sans"/>
                <a:ea typeface="DM Sans"/>
                <a:cs typeface="DM Sans"/>
                <a:sym typeface="DM Sans"/>
              </a:rPr>
              <a:t>This project introduces MARCO (Multimodal Agentic RAG for Concept Operations), a self-correcting RAG framework. By utilizing a stateful LangGraph architecture with a dedicated "Critic" agent, MARCO autonomously evaluates retrieved evidence and triggers retry loops to prevent ungrounded outputs. Furthermore, a multimodal preprocessing layer allows the system to natively ingest practitioner artifacts like CI/CD </a:t>
            </a:r>
            <a:r>
              <a:rPr lang="en-US" sz="2486" spc="-84">
                <a:solidFill>
                  <a:srgbClr val="000000"/>
                </a:solidFill>
                <a:latin typeface="DM Sans"/>
                <a:ea typeface="DM Sans"/>
                <a:cs typeface="DM Sans"/>
                <a:sym typeface="DM Sans"/>
              </a:rPr>
              <a:t>YAMLs and Terraform configurations. Initial evaluations demonstrate that the agentic loop successfully outperforms the linear baseline in retrieval precision, establishing a robust foundation for safe, artifact-grounded architectural mapping.</a:t>
            </a:r>
          </a:p>
          <a:p>
            <a:pPr algn="just">
              <a:lnSpc>
                <a:spcPts val="4973"/>
              </a:lnSpc>
              <a:spcBef>
                <a:spcPct val="0"/>
              </a:spcBef>
            </a:pPr>
          </a:p>
        </p:txBody>
      </p:sp>
      <p:sp>
        <p:nvSpPr>
          <p:cNvPr name="TextBox 4" id="4"/>
          <p:cNvSpPr txBox="true"/>
          <p:nvPr/>
        </p:nvSpPr>
        <p:spPr>
          <a:xfrm rot="0">
            <a:off x="4286850" y="1076325"/>
            <a:ext cx="8297704" cy="711200"/>
          </a:xfrm>
          <a:prstGeom prst="rect">
            <a:avLst/>
          </a:prstGeom>
        </p:spPr>
        <p:txBody>
          <a:bodyPr anchor="t" rtlCol="false" tIns="0" lIns="0" bIns="0" rIns="0">
            <a:spAutoFit/>
          </a:bodyPr>
          <a:lstStyle/>
          <a:p>
            <a:pPr algn="ctr">
              <a:lnSpc>
                <a:spcPts val="4000"/>
              </a:lnSpc>
            </a:pPr>
            <a:r>
              <a:rPr lang="en-US" b="true" sz="5000" spc="-220" u="sng">
                <a:solidFill>
                  <a:srgbClr val="000000"/>
                </a:solidFill>
                <a:latin typeface="Agrandir Bold"/>
                <a:ea typeface="Agrandir Bold"/>
                <a:cs typeface="Agrandir Bold"/>
                <a:sym typeface="Agrandir Bold"/>
              </a:rPr>
              <a:t>Abstract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24533" y="696912"/>
            <a:ext cx="8297704" cy="711200"/>
          </a:xfrm>
          <a:prstGeom prst="rect">
            <a:avLst/>
          </a:prstGeom>
        </p:spPr>
        <p:txBody>
          <a:bodyPr anchor="t" rtlCol="false" tIns="0" lIns="0" bIns="0" rIns="0">
            <a:spAutoFit/>
          </a:bodyPr>
          <a:lstStyle/>
          <a:p>
            <a:pPr algn="ctr">
              <a:lnSpc>
                <a:spcPts val="4000"/>
              </a:lnSpc>
            </a:pPr>
            <a:r>
              <a:rPr lang="en-US" b="true" sz="5000" spc="-220" u="sng">
                <a:solidFill>
                  <a:srgbClr val="000000"/>
                </a:solidFill>
                <a:latin typeface="Agrandir Bold"/>
                <a:ea typeface="Agrandir Bold"/>
                <a:cs typeface="Agrandir Bold"/>
                <a:sym typeface="Agrandir Bold"/>
              </a:rPr>
              <a:t>Objective</a:t>
            </a:r>
          </a:p>
        </p:txBody>
      </p:sp>
      <p:sp>
        <p:nvSpPr>
          <p:cNvPr name="TextBox 3" id="3"/>
          <p:cNvSpPr txBox="true"/>
          <p:nvPr/>
        </p:nvSpPr>
        <p:spPr>
          <a:xfrm rot="0">
            <a:off x="661519" y="1910652"/>
            <a:ext cx="17626481" cy="7256285"/>
          </a:xfrm>
          <a:prstGeom prst="rect">
            <a:avLst/>
          </a:prstGeom>
        </p:spPr>
        <p:txBody>
          <a:bodyPr anchor="t" rtlCol="false" tIns="0" lIns="0" bIns="0" rIns="0">
            <a:spAutoFit/>
          </a:bodyPr>
          <a:lstStyle/>
          <a:p>
            <a:pPr algn="l" marL="570488" indent="-285244" lvl="1">
              <a:lnSpc>
                <a:spcPts val="5284"/>
              </a:lnSpc>
              <a:buFont typeface="Arial"/>
              <a:buChar char="•"/>
            </a:pPr>
            <a:r>
              <a:rPr lang="en-US" b="true" sz="2642" spc="-89">
                <a:solidFill>
                  <a:srgbClr val="000000"/>
                </a:solidFill>
                <a:latin typeface="DM Sans Bold"/>
                <a:ea typeface="DM Sans Bold"/>
                <a:cs typeface="DM Sans Bold"/>
                <a:sym typeface="DM Sans Bold"/>
              </a:rPr>
              <a:t>Architect a Stateful Agentic Framework:</a:t>
            </a:r>
            <a:r>
              <a:rPr lang="en-US" sz="2642" spc="-89">
                <a:solidFill>
                  <a:srgbClr val="000000"/>
                </a:solidFill>
                <a:latin typeface="DM Sans"/>
                <a:ea typeface="DM Sans"/>
                <a:cs typeface="DM Sans"/>
                <a:sym typeface="DM Sans"/>
              </a:rPr>
              <a:t> Replace traditional linear RAG pipelines with a multi-agent LangGraph system to enable self-correcting architectural reasoning.</a:t>
            </a:r>
          </a:p>
          <a:p>
            <a:pPr algn="l">
              <a:lnSpc>
                <a:spcPts val="5284"/>
              </a:lnSpc>
            </a:pPr>
          </a:p>
          <a:p>
            <a:pPr algn="l" marL="570488" indent="-285244" lvl="1">
              <a:lnSpc>
                <a:spcPts val="5284"/>
              </a:lnSpc>
              <a:buFont typeface="Arial"/>
              <a:buChar char="•"/>
            </a:pPr>
            <a:r>
              <a:rPr lang="en-US" b="true" sz="2642" spc="-89">
                <a:solidFill>
                  <a:srgbClr val="000000"/>
                </a:solidFill>
                <a:latin typeface="DM Sans Bold"/>
                <a:ea typeface="DM Sans Bold"/>
                <a:cs typeface="DM Sans Bold"/>
                <a:sym typeface="DM Sans Bold"/>
              </a:rPr>
              <a:t>To Eliminate Hallucination in System Design:</a:t>
            </a:r>
            <a:r>
              <a:rPr lang="en-US" sz="2642" spc="-89">
                <a:solidFill>
                  <a:srgbClr val="000000"/>
                </a:solidFill>
                <a:latin typeface="DM Sans"/>
                <a:ea typeface="DM Sans"/>
                <a:cs typeface="DM Sans"/>
                <a:sym typeface="DM Sans"/>
              </a:rPr>
              <a:t> Implement an autonomous Critic Agent that evaluates retrieved evidence in real-time, triggering retry loops to ensure 100% grounded mappings.</a:t>
            </a:r>
          </a:p>
          <a:p>
            <a:pPr algn="l">
              <a:lnSpc>
                <a:spcPts val="5284"/>
              </a:lnSpc>
            </a:pPr>
          </a:p>
          <a:p>
            <a:pPr algn="l" marL="570488" indent="-285244" lvl="1">
              <a:lnSpc>
                <a:spcPts val="5284"/>
              </a:lnSpc>
              <a:buFont typeface="Arial"/>
              <a:buChar char="•"/>
            </a:pPr>
            <a:r>
              <a:rPr lang="en-US" b="true" sz="2642" spc="-89">
                <a:solidFill>
                  <a:srgbClr val="000000"/>
                </a:solidFill>
                <a:latin typeface="DM Sans Bold"/>
                <a:ea typeface="DM Sans Bold"/>
                <a:cs typeface="DM Sans Bold"/>
                <a:sym typeface="DM Sans Bold"/>
              </a:rPr>
              <a:t>To Enable Multimodal Artifact Ingestion:</a:t>
            </a:r>
            <a:r>
              <a:rPr lang="en-US" sz="2642" spc="-89">
                <a:solidFill>
                  <a:srgbClr val="000000"/>
                </a:solidFill>
                <a:latin typeface="DM Sans"/>
                <a:ea typeface="DM Sans"/>
                <a:cs typeface="DM Sans"/>
                <a:sym typeface="DM Sans"/>
              </a:rPr>
              <a:t> Develop a preprocessing layer using Vision-Language Models (Gemini) to natively extract architectural intent from YAML, Terraform, and system diagrams.</a:t>
            </a:r>
          </a:p>
          <a:p>
            <a:pPr algn="l">
              <a:lnSpc>
                <a:spcPts val="5284"/>
              </a:lnSpc>
            </a:pPr>
          </a:p>
          <a:p>
            <a:pPr algn="l" marL="570488" indent="-285244" lvl="1">
              <a:lnSpc>
                <a:spcPts val="5284"/>
              </a:lnSpc>
              <a:buFont typeface="Arial"/>
              <a:buChar char="•"/>
            </a:pPr>
            <a:r>
              <a:rPr lang="en-US" b="true" sz="2642" spc="-89">
                <a:solidFill>
                  <a:srgbClr val="000000"/>
                </a:solidFill>
                <a:latin typeface="DM Sans Bold"/>
                <a:ea typeface="DM Sans Bold"/>
                <a:cs typeface="DM Sans Bold"/>
                <a:sym typeface="DM Sans Bold"/>
              </a:rPr>
              <a:t>To Provide Explainable AI (XAI) for Practitioners:</a:t>
            </a:r>
            <a:r>
              <a:rPr lang="en-US" sz="2642" spc="-89">
                <a:solidFill>
                  <a:srgbClr val="000000"/>
                </a:solidFill>
                <a:latin typeface="DM Sans"/>
                <a:ea typeface="DM Sans"/>
                <a:cs typeface="DM Sans"/>
                <a:sym typeface="DM Sans"/>
              </a:rPr>
              <a:t> Generate detailed technical summaries and "Reasoning Traces" to move beyond "black-box" AI and build trust with senior DevOps engineers.</a:t>
            </a:r>
          </a:p>
        </p:txBody>
      </p:sp>
      <p:sp>
        <p:nvSpPr>
          <p:cNvPr name="Freeform 4" id="4"/>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34154" y="3229223"/>
            <a:ext cx="15419692" cy="3647580"/>
          </a:xfrm>
          <a:prstGeom prst="rect">
            <a:avLst/>
          </a:prstGeom>
        </p:spPr>
        <p:txBody>
          <a:bodyPr anchor="t" rtlCol="false" tIns="0" lIns="0" bIns="0" rIns="0">
            <a:spAutoFit/>
          </a:bodyPr>
          <a:lstStyle/>
          <a:p>
            <a:pPr algn="just">
              <a:lnSpc>
                <a:spcPts val="4884"/>
              </a:lnSpc>
              <a:spcBef>
                <a:spcPct val="0"/>
              </a:spcBef>
            </a:pPr>
            <a:r>
              <a:rPr lang="en-US" sz="2442" spc="-83">
                <a:solidFill>
                  <a:srgbClr val="000000"/>
                </a:solidFill>
                <a:latin typeface="DM Sans"/>
                <a:ea typeface="DM Sans"/>
                <a:cs typeface="DM Sans"/>
                <a:sym typeface="DM Sans"/>
              </a:rPr>
              <a:t>Current DevOps-MSA alignment tools rely on "Linear RAG" pipelines that cannot process structural engineering artifacts like YAML or architecture diagrams, leading to a significant multimodal context gap. These systems lack a self-correction mechanism, resulting in ungrounded architectural hallucinations that pose critical risks to enterprise deployment reliability. There is an urgent need for a stateful, agentic framework that can autonomously verify retrieved evidence and interpret multimodal technical configurations to ensure precise, evidence-based decision support.</a:t>
            </a:r>
          </a:p>
        </p:txBody>
      </p:sp>
      <p:sp>
        <p:nvSpPr>
          <p:cNvPr name="TextBox 3" id="3"/>
          <p:cNvSpPr txBox="true"/>
          <p:nvPr/>
        </p:nvSpPr>
        <p:spPr>
          <a:xfrm rot="0">
            <a:off x="4292081" y="1329737"/>
            <a:ext cx="8297704" cy="711200"/>
          </a:xfrm>
          <a:prstGeom prst="rect">
            <a:avLst/>
          </a:prstGeom>
        </p:spPr>
        <p:txBody>
          <a:bodyPr anchor="t" rtlCol="false" tIns="0" lIns="0" bIns="0" rIns="0">
            <a:spAutoFit/>
          </a:bodyPr>
          <a:lstStyle/>
          <a:p>
            <a:pPr algn="ctr">
              <a:lnSpc>
                <a:spcPts val="4000"/>
              </a:lnSpc>
            </a:pPr>
            <a:r>
              <a:rPr lang="en-US" b="true" sz="5000" spc="-220" u="sng">
                <a:solidFill>
                  <a:srgbClr val="000000"/>
                </a:solidFill>
                <a:latin typeface="Agrandir Bold"/>
                <a:ea typeface="Agrandir Bold"/>
                <a:cs typeface="Agrandir Bold"/>
                <a:sym typeface="Agrandir Bold"/>
              </a:rPr>
              <a:t>Problem Statement</a:t>
            </a:r>
          </a:p>
        </p:txBody>
      </p:sp>
      <p:sp>
        <p:nvSpPr>
          <p:cNvPr name="Freeform 4" id="4"/>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52471" y="866775"/>
            <a:ext cx="14258541" cy="675639"/>
          </a:xfrm>
          <a:prstGeom prst="rect">
            <a:avLst/>
          </a:prstGeom>
        </p:spPr>
        <p:txBody>
          <a:bodyPr anchor="t" rtlCol="false" tIns="0" lIns="0" bIns="0" rIns="0">
            <a:spAutoFit/>
          </a:bodyPr>
          <a:lstStyle/>
          <a:p>
            <a:pPr algn="ctr">
              <a:lnSpc>
                <a:spcPts val="4760"/>
              </a:lnSpc>
              <a:spcBef>
                <a:spcPct val="0"/>
              </a:spcBef>
            </a:pPr>
            <a:r>
              <a:rPr lang="en-US" b="true" sz="3400" spc="-149">
                <a:solidFill>
                  <a:srgbClr val="000000"/>
                </a:solidFill>
                <a:latin typeface="Agrandir Bold"/>
                <a:ea typeface="Agrandir Bold"/>
                <a:cs typeface="Agrandir Bold"/>
                <a:sym typeface="Agrandir Bold"/>
              </a:rPr>
              <a:t>Literature Survey </a:t>
            </a:r>
          </a:p>
        </p:txBody>
      </p:sp>
      <p:sp>
        <p:nvSpPr>
          <p:cNvPr name="TextBox 3" id="3"/>
          <p:cNvSpPr txBox="true"/>
          <p:nvPr/>
        </p:nvSpPr>
        <p:spPr>
          <a:xfrm rot="0">
            <a:off x="794711" y="3157460"/>
            <a:ext cx="15727266" cy="4596763"/>
          </a:xfrm>
          <a:prstGeom prst="rect">
            <a:avLst/>
          </a:prstGeom>
        </p:spPr>
        <p:txBody>
          <a:bodyPr anchor="t" rtlCol="false" tIns="0" lIns="0" bIns="0" rIns="0">
            <a:spAutoFit/>
          </a:bodyPr>
          <a:lstStyle/>
          <a:p>
            <a:pPr algn="l" marL="518175" indent="-259087" lvl="1">
              <a:lnSpc>
                <a:spcPts val="3360"/>
              </a:lnSpc>
              <a:buFont typeface="Arial"/>
              <a:buChar char="•"/>
            </a:pPr>
            <a:r>
              <a:rPr lang="en-US" b="true" sz="2400" spc="-105">
                <a:solidFill>
                  <a:srgbClr val="000000"/>
                </a:solidFill>
                <a:latin typeface="DM Sans Bold"/>
                <a:ea typeface="DM Sans Bold"/>
                <a:cs typeface="DM Sans Bold"/>
                <a:sym typeface="DM Sans Bold"/>
              </a:rPr>
              <a:t>DevOps-MSA Prerequisites (2015-2021): </a:t>
            </a:r>
            <a:r>
              <a:rPr lang="en-US" sz="2400" spc="-105">
                <a:solidFill>
                  <a:srgbClr val="000000"/>
                </a:solidFill>
                <a:latin typeface="DM Sans"/>
                <a:ea typeface="DM Sans"/>
                <a:cs typeface="DM Sans"/>
                <a:sym typeface="DM Sans"/>
              </a:rPr>
              <a:t>Early research established that Microservice Architecture (MSA) requires specific DevOps enablers like CI/CD, container orchestration, and automated monitoring to succeed</a:t>
            </a:r>
          </a:p>
          <a:p>
            <a:pPr algn="l">
              <a:lnSpc>
                <a:spcPts val="3360"/>
              </a:lnSpc>
            </a:pPr>
          </a:p>
          <a:p>
            <a:pPr algn="l" marL="518175" indent="-259087" lvl="1">
              <a:lnSpc>
                <a:spcPts val="3360"/>
              </a:lnSpc>
              <a:buFont typeface="Arial"/>
              <a:buChar char="•"/>
            </a:pPr>
            <a:r>
              <a:rPr lang="en-US" b="true" sz="2400" spc="-105">
                <a:solidFill>
                  <a:srgbClr val="000000"/>
                </a:solidFill>
                <a:latin typeface="DM Sans Bold"/>
                <a:ea typeface="DM Sans Bold"/>
                <a:cs typeface="DM Sans Bold"/>
                <a:sym typeface="DM Sans Bold"/>
              </a:rPr>
              <a:t>The Baseline Framework (2025): </a:t>
            </a:r>
            <a:r>
              <a:rPr lang="en-US" sz="2400" spc="-105">
                <a:solidFill>
                  <a:srgbClr val="000000"/>
                </a:solidFill>
                <a:latin typeface="DM Sans"/>
                <a:ea typeface="DM Sans"/>
                <a:cs typeface="DM Sans"/>
                <a:sym typeface="DM Sans"/>
              </a:rPr>
              <a:t>Khadem and Movaghar introduced the first bidirectional RAG framework specifically for aligning 200+ DevOps and MSA concepts, utilizing a static taxonomy and linear retrieval</a:t>
            </a:r>
          </a:p>
          <a:p>
            <a:pPr algn="l">
              <a:lnSpc>
                <a:spcPts val="3360"/>
              </a:lnSpc>
            </a:pPr>
          </a:p>
          <a:p>
            <a:pPr algn="l" marL="518175" indent="-259087" lvl="1">
              <a:lnSpc>
                <a:spcPts val="3360"/>
              </a:lnSpc>
              <a:buFont typeface="Arial"/>
              <a:buChar char="•"/>
            </a:pPr>
            <a:r>
              <a:rPr lang="en-US" b="true" sz="2400" spc="-105">
                <a:solidFill>
                  <a:srgbClr val="000000"/>
                </a:solidFill>
                <a:latin typeface="DM Sans Bold"/>
                <a:ea typeface="DM Sans Bold"/>
                <a:cs typeface="DM Sans Bold"/>
                <a:sym typeface="DM Sans Bold"/>
              </a:rPr>
              <a:t>The Agentic RAG Shift (2023-2024): </a:t>
            </a:r>
            <a:r>
              <a:rPr lang="en-US" sz="2400" spc="-105">
                <a:solidFill>
                  <a:srgbClr val="000000"/>
                </a:solidFill>
                <a:latin typeface="DM Sans"/>
                <a:ea typeface="DM Sans"/>
                <a:cs typeface="DM Sans"/>
                <a:sym typeface="DM Sans"/>
              </a:rPr>
              <a:t>Landmark studies in "Self-RAG" and "ReAct" demonstrated that LLMs perform significantly better when they can critique their own retrieved evidence and use tools for multi-step reasoning</a:t>
            </a:r>
          </a:p>
          <a:p>
            <a:pPr algn="l">
              <a:lnSpc>
                <a:spcPts val="3360"/>
              </a:lnSpc>
            </a:pPr>
          </a:p>
          <a:p>
            <a:pPr algn="l" marL="518175" indent="-259087" lvl="1">
              <a:lnSpc>
                <a:spcPts val="3360"/>
              </a:lnSpc>
              <a:buFont typeface="Arial"/>
              <a:buChar char="•"/>
            </a:pPr>
            <a:r>
              <a:rPr lang="en-US" b="true" sz="2400" spc="-105">
                <a:solidFill>
                  <a:srgbClr val="000000"/>
                </a:solidFill>
                <a:latin typeface="DM Sans Bold"/>
                <a:ea typeface="DM Sans Bold"/>
                <a:cs typeface="DM Sans Bold"/>
                <a:sym typeface="DM Sans Bold"/>
              </a:rPr>
              <a:t>Multimodal Reasoning (2024): </a:t>
            </a:r>
            <a:r>
              <a:rPr lang="en-US" sz="2400" spc="-105">
                <a:solidFill>
                  <a:srgbClr val="000000"/>
                </a:solidFill>
                <a:latin typeface="DM Sans"/>
                <a:ea typeface="DM Sans"/>
                <a:cs typeface="DM Sans"/>
                <a:sym typeface="DM Sans"/>
              </a:rPr>
              <a:t>Recent advancements in Vision-Language Models (e.g., Gemini 1.5) have enabled AI to extract structural architectural intent from non-textual artifacts like YAML and system diagrams.</a:t>
            </a:r>
          </a:p>
        </p:txBody>
      </p:sp>
      <p:sp>
        <p:nvSpPr>
          <p:cNvPr name="Freeform 4" id="4"/>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223663" y="619125"/>
            <a:ext cx="8297704" cy="866775"/>
          </a:xfrm>
          <a:prstGeom prst="rect">
            <a:avLst/>
          </a:prstGeom>
        </p:spPr>
        <p:txBody>
          <a:bodyPr anchor="t" rtlCol="false" tIns="0" lIns="0" bIns="0" rIns="0">
            <a:spAutoFit/>
          </a:bodyPr>
          <a:lstStyle/>
          <a:p>
            <a:pPr algn="ctr">
              <a:lnSpc>
                <a:spcPts val="4800"/>
              </a:lnSpc>
            </a:pPr>
            <a:r>
              <a:rPr lang="en-US" b="true" sz="6000" spc="-263">
                <a:solidFill>
                  <a:srgbClr val="000000"/>
                </a:solidFill>
                <a:latin typeface="Agrandir Bold"/>
                <a:ea typeface="Agrandir Bold"/>
                <a:cs typeface="Agrandir Bold"/>
                <a:sym typeface="Agrandir Bold"/>
              </a:rPr>
              <a:t>Existing System</a:t>
            </a:r>
          </a:p>
        </p:txBody>
      </p:sp>
      <p:sp>
        <p:nvSpPr>
          <p:cNvPr name="TextBox 3" id="3"/>
          <p:cNvSpPr txBox="true"/>
          <p:nvPr/>
        </p:nvSpPr>
        <p:spPr>
          <a:xfrm rot="0">
            <a:off x="1380328" y="2082738"/>
            <a:ext cx="16061244" cy="7095445"/>
          </a:xfrm>
          <a:prstGeom prst="rect">
            <a:avLst/>
          </a:prstGeom>
        </p:spPr>
        <p:txBody>
          <a:bodyPr anchor="t" rtlCol="false" tIns="0" lIns="0" bIns="0" rIns="0">
            <a:spAutoFit/>
          </a:bodyPr>
          <a:lstStyle/>
          <a:p>
            <a:pPr algn="just" marL="560231" indent="-280116" lvl="1">
              <a:lnSpc>
                <a:spcPts val="3944"/>
              </a:lnSpc>
              <a:buFont typeface="Arial"/>
              <a:buChar char="•"/>
            </a:pPr>
            <a:r>
              <a:rPr lang="en-US" b="true" sz="2594" spc="-88">
                <a:solidFill>
                  <a:srgbClr val="000000"/>
                </a:solidFill>
                <a:latin typeface="DM Sans Bold"/>
                <a:ea typeface="DM Sans Bold"/>
                <a:cs typeface="DM Sans Bold"/>
                <a:sym typeface="DM Sans Bold"/>
              </a:rPr>
              <a:t>The Baseline M</a:t>
            </a:r>
            <a:r>
              <a:rPr lang="en-US" b="true" sz="2594" spc="-88">
                <a:solidFill>
                  <a:srgbClr val="000000"/>
                </a:solidFill>
                <a:latin typeface="DM Sans Bold"/>
                <a:ea typeface="DM Sans Bold"/>
                <a:cs typeface="DM Sans Bold"/>
                <a:sym typeface="DM Sans Bold"/>
              </a:rPr>
              <a:t>odel: </a:t>
            </a:r>
            <a:r>
              <a:rPr lang="en-US" sz="2594" spc="-88">
                <a:solidFill>
                  <a:srgbClr val="000000"/>
                </a:solidFill>
                <a:latin typeface="DM Sans"/>
                <a:ea typeface="DM Sans"/>
                <a:cs typeface="DM Sans"/>
                <a:sym typeface="DM Sans"/>
              </a:rPr>
              <a:t>Based on the foundational work by Khadem &amp; Movaghar (2025), which introduced the 200+ concept DevOps-MSA taxonomy.</a:t>
            </a:r>
          </a:p>
          <a:p>
            <a:pPr algn="just">
              <a:lnSpc>
                <a:spcPts val="3944"/>
              </a:lnSpc>
            </a:pPr>
          </a:p>
          <a:p>
            <a:pPr algn="just" marL="560231" indent="-280116" lvl="1">
              <a:lnSpc>
                <a:spcPts val="3944"/>
              </a:lnSpc>
              <a:buFont typeface="Arial"/>
              <a:buChar char="•"/>
            </a:pPr>
            <a:r>
              <a:rPr lang="en-US" b="true" sz="2594" spc="-88">
                <a:solidFill>
                  <a:srgbClr val="000000"/>
                </a:solidFill>
                <a:latin typeface="DM Sans Bold"/>
                <a:ea typeface="DM Sans Bold"/>
                <a:cs typeface="DM Sans Bold"/>
                <a:sym typeface="DM Sans Bold"/>
              </a:rPr>
              <a:t>Architecture</a:t>
            </a:r>
            <a:r>
              <a:rPr lang="en-US" sz="2594" spc="-88">
                <a:solidFill>
                  <a:srgbClr val="000000"/>
                </a:solidFill>
                <a:latin typeface="DM Sans"/>
                <a:ea typeface="DM Sans"/>
                <a:cs typeface="DM Sans"/>
                <a:sym typeface="DM Sans"/>
              </a:rPr>
              <a:t>: Utilizes a standard, single-pass Linear RAG pipeline:</a:t>
            </a:r>
          </a:p>
          <a:p>
            <a:pPr algn="just">
              <a:lnSpc>
                <a:spcPts val="3944"/>
              </a:lnSpc>
            </a:pPr>
            <a:r>
              <a:rPr lang="en-US" sz="2594" spc="-88">
                <a:solidFill>
                  <a:srgbClr val="000000"/>
                </a:solidFill>
                <a:latin typeface="DM Sans"/>
                <a:ea typeface="DM Sans"/>
                <a:cs typeface="DM Sans"/>
                <a:sym typeface="DM Sans"/>
              </a:rPr>
              <a:t>                    </a:t>
            </a:r>
          </a:p>
          <a:p>
            <a:pPr algn="just">
              <a:lnSpc>
                <a:spcPts val="3944"/>
              </a:lnSpc>
            </a:pPr>
            <a:r>
              <a:rPr lang="en-US" sz="2594" spc="-88">
                <a:solidFill>
                  <a:srgbClr val="000000"/>
                </a:solidFill>
                <a:latin typeface="DM Sans"/>
                <a:ea typeface="DM Sans"/>
                <a:cs typeface="DM Sans"/>
                <a:sym typeface="DM Sans"/>
              </a:rPr>
              <a:t>                      </a:t>
            </a:r>
            <a:r>
              <a:rPr lang="en-US" sz="2594" spc="-88">
                <a:solidFill>
                  <a:srgbClr val="000000"/>
                </a:solidFill>
                <a:latin typeface="DM Sans"/>
                <a:ea typeface="DM Sans"/>
                <a:cs typeface="DM Sans"/>
                <a:sym typeface="DM Sans"/>
              </a:rPr>
              <a:t>User Query → Vector Search (FAISS) → Top-K Retrieval → LLM Generation.</a:t>
            </a:r>
          </a:p>
          <a:p>
            <a:pPr algn="just">
              <a:lnSpc>
                <a:spcPts val="3944"/>
              </a:lnSpc>
            </a:pPr>
          </a:p>
          <a:p>
            <a:pPr algn="just" marL="560231" indent="-280116" lvl="1">
              <a:lnSpc>
                <a:spcPts val="3944"/>
              </a:lnSpc>
              <a:buFont typeface="Arial"/>
              <a:buChar char="•"/>
            </a:pPr>
            <a:r>
              <a:rPr lang="en-US" b="true" sz="2594" spc="-88">
                <a:solidFill>
                  <a:srgbClr val="000000"/>
                </a:solidFill>
                <a:latin typeface="DM Sans Bold"/>
                <a:ea typeface="DM Sans Bold"/>
                <a:cs typeface="DM Sans Bold"/>
                <a:sym typeface="DM Sans Bold"/>
              </a:rPr>
              <a:t>Critical Limitations:</a:t>
            </a:r>
          </a:p>
          <a:p>
            <a:pPr algn="just" marL="1120463" indent="-373488" lvl="2">
              <a:lnSpc>
                <a:spcPts val="4229"/>
              </a:lnSpc>
              <a:buAutoNum type="alphaLcPeriod" startAt="1"/>
            </a:pPr>
            <a:r>
              <a:rPr lang="en-US" sz="2594" spc="-88">
                <a:solidFill>
                  <a:srgbClr val="000000"/>
                </a:solidFill>
                <a:latin typeface="DM Sans"/>
                <a:ea typeface="DM Sans"/>
                <a:cs typeface="DM Sans"/>
                <a:sym typeface="DM Sans"/>
              </a:rPr>
              <a:t>Text-Only Input: Cannot process real-world engineering artifacts (Architecture diagrams, YAML pipelines, .tf files).</a:t>
            </a:r>
          </a:p>
          <a:p>
            <a:pPr algn="just" marL="1120463" indent="-373488" lvl="2">
              <a:lnSpc>
                <a:spcPts val="4229"/>
              </a:lnSpc>
              <a:buAutoNum type="alphaLcPeriod" startAt="1"/>
            </a:pPr>
            <a:r>
              <a:rPr lang="en-US" sz="2594" spc="-88">
                <a:solidFill>
                  <a:srgbClr val="000000"/>
                </a:solidFill>
                <a:latin typeface="DM Sans"/>
                <a:ea typeface="DM Sans"/>
                <a:cs typeface="DM Sans"/>
                <a:sym typeface="DM Sans"/>
              </a:rPr>
              <a:t>No Self-Correction: The system blindly passes retrieved documents to the LLM, regardless of relevance.</a:t>
            </a:r>
          </a:p>
          <a:p>
            <a:pPr algn="just" marL="1120463" indent="-373488" lvl="2">
              <a:lnSpc>
                <a:spcPts val="4229"/>
              </a:lnSpc>
              <a:buAutoNum type="alphaLcPeriod" startAt="1"/>
            </a:pPr>
            <a:r>
              <a:rPr lang="en-US" sz="2594" spc="-88">
                <a:solidFill>
                  <a:srgbClr val="000000"/>
                </a:solidFill>
                <a:latin typeface="DM Sans"/>
                <a:ea typeface="DM Sans"/>
                <a:cs typeface="DM Sans"/>
                <a:sym typeface="DM Sans"/>
              </a:rPr>
              <a:t>High Hallucination Risk: Operates on a "best-effort" basis. If the vector search returns irrelevant data, the LLM hallucinates a mapping instead of failing safely.</a:t>
            </a:r>
          </a:p>
          <a:p>
            <a:pPr algn="just">
              <a:lnSpc>
                <a:spcPts val="3944"/>
              </a:lnSpc>
            </a:pPr>
          </a:p>
        </p:txBody>
      </p:sp>
      <p:sp>
        <p:nvSpPr>
          <p:cNvPr name="Freeform 4" id="4"/>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951335" y="3559691"/>
            <a:ext cx="673331" cy="4114800"/>
          </a:xfrm>
          <a:custGeom>
            <a:avLst/>
            <a:gdLst/>
            <a:ahLst/>
            <a:cxnLst/>
            <a:rect r="r" b="b" t="t" l="l"/>
            <a:pathLst>
              <a:path h="4114800" w="673331">
                <a:moveTo>
                  <a:pt x="0" y="0"/>
                </a:moveTo>
                <a:lnTo>
                  <a:pt x="673330" y="0"/>
                </a:lnTo>
                <a:lnTo>
                  <a:pt x="6733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22474" y="1066800"/>
            <a:ext cx="9938156" cy="565150"/>
          </a:xfrm>
          <a:prstGeom prst="rect">
            <a:avLst/>
          </a:prstGeom>
        </p:spPr>
        <p:txBody>
          <a:bodyPr anchor="t" rtlCol="false" tIns="0" lIns="0" bIns="0" rIns="0">
            <a:spAutoFit/>
          </a:bodyPr>
          <a:lstStyle/>
          <a:p>
            <a:pPr algn="ctr">
              <a:lnSpc>
                <a:spcPts val="3199"/>
              </a:lnSpc>
            </a:pPr>
            <a:r>
              <a:rPr lang="en-US" b="true" sz="3999" spc="-175">
                <a:solidFill>
                  <a:srgbClr val="000000"/>
                </a:solidFill>
                <a:latin typeface="Agrandir Bold"/>
                <a:ea typeface="Agrandir Bold"/>
                <a:cs typeface="Agrandir Bold"/>
                <a:sym typeface="Agrandir Bold"/>
              </a:rPr>
              <a:t>Disadvantages</a:t>
            </a:r>
          </a:p>
        </p:txBody>
      </p:sp>
      <p:sp>
        <p:nvSpPr>
          <p:cNvPr name="TextBox 4" id="4"/>
          <p:cNvSpPr txBox="true"/>
          <p:nvPr/>
        </p:nvSpPr>
        <p:spPr>
          <a:xfrm rot="0">
            <a:off x="1579801" y="2611757"/>
            <a:ext cx="14623501" cy="6646543"/>
          </a:xfrm>
          <a:prstGeom prst="rect">
            <a:avLst/>
          </a:prstGeom>
        </p:spPr>
        <p:txBody>
          <a:bodyPr anchor="t" rtlCol="false" tIns="0" lIns="0" bIns="0" rIns="0">
            <a:spAutoFit/>
          </a:bodyPr>
          <a:lstStyle/>
          <a:p>
            <a:pPr algn="l" marL="582948" indent="-291474" lvl="1">
              <a:lnSpc>
                <a:spcPts val="3780"/>
              </a:lnSpc>
              <a:buFont typeface="Arial"/>
              <a:buChar char="•"/>
            </a:pPr>
            <a:r>
              <a:rPr lang="en-US" b="true" sz="2700" spc="-118">
                <a:solidFill>
                  <a:srgbClr val="000000"/>
                </a:solidFill>
                <a:latin typeface="DM Sans Bold"/>
                <a:ea typeface="DM Sans Bold"/>
                <a:cs typeface="DM Sans Bold"/>
                <a:sym typeface="DM Sans Bold"/>
              </a:rPr>
              <a:t>High Risk of Hallucinations: </a:t>
            </a:r>
            <a:r>
              <a:rPr lang="en-US" sz="2700" spc="-118">
                <a:solidFill>
                  <a:srgbClr val="000000"/>
                </a:solidFill>
                <a:latin typeface="DM Sans"/>
                <a:ea typeface="DM Sans"/>
                <a:cs typeface="DM Sans"/>
                <a:sym typeface="DM Sans"/>
              </a:rPr>
              <a:t> Linear pipelines blindly trust retrieved data. In enterprise DevOps, hallucinating an architectural mapping (e.g., confusing load balancing with version control) can lead to severe deployment or security failures.</a:t>
            </a:r>
          </a:p>
          <a:p>
            <a:pPr algn="l">
              <a:lnSpc>
                <a:spcPts val="3780"/>
              </a:lnSpc>
            </a:pPr>
          </a:p>
          <a:p>
            <a:pPr algn="l" marL="582948" indent="-291474" lvl="1">
              <a:lnSpc>
                <a:spcPts val="3780"/>
              </a:lnSpc>
              <a:buFont typeface="Arial"/>
              <a:buChar char="•"/>
            </a:pPr>
            <a:r>
              <a:rPr lang="en-US" b="true" sz="2700" spc="-118">
                <a:solidFill>
                  <a:srgbClr val="000000"/>
                </a:solidFill>
                <a:latin typeface="DM Sans Bold"/>
                <a:ea typeface="DM Sans Bold"/>
                <a:cs typeface="DM Sans Bold"/>
                <a:sym typeface="DM Sans Bold"/>
              </a:rPr>
              <a:t>The "Text-Only" Bottleneck: </a:t>
            </a:r>
            <a:r>
              <a:rPr lang="en-US" sz="2700" spc="-118">
                <a:solidFill>
                  <a:srgbClr val="000000"/>
                </a:solidFill>
                <a:latin typeface="DM Sans"/>
                <a:ea typeface="DM Sans"/>
                <a:cs typeface="DM Sans"/>
                <a:sym typeface="DM Sans"/>
              </a:rPr>
              <a:t>Real-world practitioners do not type out their infrastructure; they build it using CI/CD YAMLs, Terraform (.tf), and system topology diagrams. Current RAG models are blind to these structural artifacts.</a:t>
            </a:r>
          </a:p>
          <a:p>
            <a:pPr algn="l">
              <a:lnSpc>
                <a:spcPts val="3780"/>
              </a:lnSpc>
            </a:pPr>
          </a:p>
          <a:p>
            <a:pPr algn="l" marL="582948" indent="-291474" lvl="1">
              <a:lnSpc>
                <a:spcPts val="3780"/>
              </a:lnSpc>
              <a:buFont typeface="Arial"/>
              <a:buChar char="•"/>
            </a:pPr>
            <a:r>
              <a:rPr lang="en-US" b="true" sz="2700" spc="-118">
                <a:solidFill>
                  <a:srgbClr val="000000"/>
                </a:solidFill>
                <a:latin typeface="DM Sans Bold"/>
                <a:ea typeface="DM Sans Bold"/>
                <a:cs typeface="DM Sans Bold"/>
                <a:sym typeface="DM Sans Bold"/>
              </a:rPr>
              <a:t>Lack of Practitioner Trust (Black Box): </a:t>
            </a:r>
            <a:r>
              <a:rPr lang="en-US" sz="2700" spc="-118">
                <a:solidFill>
                  <a:srgbClr val="000000"/>
                </a:solidFill>
                <a:latin typeface="DM Sans"/>
                <a:ea typeface="DM Sans"/>
                <a:cs typeface="DM Sans"/>
                <a:sym typeface="DM Sans"/>
              </a:rPr>
              <a:t>Standard models provide an answer without showing the reasoning, grading the evidence, or explaining why a mapping was chosen.</a:t>
            </a:r>
          </a:p>
          <a:p>
            <a:pPr algn="l">
              <a:lnSpc>
                <a:spcPts val="3780"/>
              </a:lnSpc>
            </a:pPr>
          </a:p>
          <a:p>
            <a:pPr algn="l" marL="582948" indent="-291474" lvl="1">
              <a:lnSpc>
                <a:spcPts val="3780"/>
              </a:lnSpc>
              <a:buFont typeface="Arial"/>
              <a:buChar char="•"/>
            </a:pPr>
            <a:r>
              <a:rPr lang="en-US" b="true" sz="2700" spc="-118">
                <a:solidFill>
                  <a:srgbClr val="000000"/>
                </a:solidFill>
                <a:latin typeface="DM Sans Bold"/>
                <a:ea typeface="DM Sans Bold"/>
                <a:cs typeface="DM Sans Bold"/>
                <a:sym typeface="DM Sans Bold"/>
              </a:rPr>
              <a:t>The Core Issue: </a:t>
            </a:r>
            <a:r>
              <a:rPr lang="en-US" sz="2700" spc="-118">
                <a:solidFill>
                  <a:srgbClr val="000000"/>
                </a:solidFill>
                <a:latin typeface="DM Sans"/>
                <a:ea typeface="DM Sans"/>
                <a:cs typeface="DM Sans"/>
                <a:sym typeface="DM Sans"/>
              </a:rPr>
              <a:t>We are using rigid, single-pass AI tools to solve dynamic, multi-step engineering problems.</a:t>
            </a:r>
          </a:p>
          <a:p>
            <a:pPr algn="l">
              <a:lnSpc>
                <a:spcPts val="3780"/>
              </a:lnSpc>
              <a:spcBef>
                <a:spcPct val="0"/>
              </a:spcBef>
            </a:pPr>
          </a:p>
        </p:txBody>
      </p:sp>
      <p:sp>
        <p:nvSpPr>
          <p:cNvPr name="Freeform 5" id="5"/>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7413" y="765175"/>
            <a:ext cx="8297704" cy="565150"/>
          </a:xfrm>
          <a:prstGeom prst="rect">
            <a:avLst/>
          </a:prstGeom>
        </p:spPr>
        <p:txBody>
          <a:bodyPr anchor="t" rtlCol="false" tIns="0" lIns="0" bIns="0" rIns="0">
            <a:spAutoFit/>
          </a:bodyPr>
          <a:lstStyle/>
          <a:p>
            <a:pPr algn="ctr">
              <a:lnSpc>
                <a:spcPts val="3199"/>
              </a:lnSpc>
            </a:pPr>
            <a:r>
              <a:rPr lang="en-US" b="true" sz="3999" spc="-175">
                <a:solidFill>
                  <a:srgbClr val="000000"/>
                </a:solidFill>
                <a:latin typeface="Agrandir Bold"/>
                <a:ea typeface="Agrandir Bold"/>
                <a:cs typeface="Agrandir Bold"/>
                <a:sym typeface="Agrandir Bold"/>
              </a:rPr>
              <a:t>Proposed system</a:t>
            </a:r>
          </a:p>
        </p:txBody>
      </p:sp>
      <p:sp>
        <p:nvSpPr>
          <p:cNvPr name="TextBox 3" id="3"/>
          <p:cNvSpPr txBox="true"/>
          <p:nvPr/>
        </p:nvSpPr>
        <p:spPr>
          <a:xfrm rot="0">
            <a:off x="1256982" y="1869279"/>
            <a:ext cx="16466070" cy="7910829"/>
          </a:xfrm>
          <a:prstGeom prst="rect">
            <a:avLst/>
          </a:prstGeom>
        </p:spPr>
        <p:txBody>
          <a:bodyPr anchor="t" rtlCol="false" tIns="0" lIns="0" bIns="0" rIns="0">
            <a:spAutoFit/>
          </a:bodyPr>
          <a:lstStyle/>
          <a:p>
            <a:pPr algn="l">
              <a:lnSpc>
                <a:spcPts val="3920"/>
              </a:lnSpc>
            </a:pPr>
            <a:r>
              <a:rPr lang="en-US" b="true" sz="2800" spc="-123">
                <a:solidFill>
                  <a:srgbClr val="000000"/>
                </a:solidFill>
                <a:latin typeface="DM Sans Bold"/>
                <a:ea typeface="DM Sans Bold"/>
                <a:cs typeface="DM Sans Bold"/>
                <a:sym typeface="DM Sans Bold"/>
              </a:rPr>
              <a:t>Core Concept: </a:t>
            </a:r>
            <a:r>
              <a:rPr lang="en-US" sz="2800" spc="-123">
                <a:solidFill>
                  <a:srgbClr val="000000"/>
                </a:solidFill>
                <a:latin typeface="DM Sans"/>
                <a:ea typeface="DM Sans"/>
                <a:cs typeface="DM Sans"/>
                <a:sym typeface="DM Sans"/>
              </a:rPr>
              <a:t>Transitioning from a single-pass "Linear" system to a Stateful, Agentic framework that evaluates its own reasoning.</a:t>
            </a:r>
          </a:p>
          <a:p>
            <a:pPr algn="l">
              <a:lnSpc>
                <a:spcPts val="3920"/>
              </a:lnSpc>
            </a:pPr>
          </a:p>
          <a:p>
            <a:pPr algn="l">
              <a:lnSpc>
                <a:spcPts val="3920"/>
              </a:lnSpc>
            </a:pPr>
            <a:r>
              <a:rPr lang="en-US" b="true" sz="2800" spc="-123">
                <a:solidFill>
                  <a:srgbClr val="000000"/>
                </a:solidFill>
                <a:latin typeface="DM Sans Bold"/>
                <a:ea typeface="DM Sans Bold"/>
                <a:cs typeface="DM Sans Bold"/>
                <a:sym typeface="DM Sans Bold"/>
              </a:rPr>
              <a:t>Agentic Orchestration (LangGraph)</a:t>
            </a:r>
          </a:p>
          <a:p>
            <a:pPr algn="l">
              <a:lnSpc>
                <a:spcPts val="3920"/>
              </a:lnSpc>
            </a:pPr>
          </a:p>
          <a:p>
            <a:pPr algn="l">
              <a:lnSpc>
                <a:spcPts val="3920"/>
              </a:lnSpc>
            </a:pPr>
            <a:r>
              <a:rPr lang="en-US" sz="2800" spc="-123">
                <a:solidFill>
                  <a:srgbClr val="000000"/>
                </a:solidFill>
                <a:latin typeface="DM Sans"/>
                <a:ea typeface="DM Sans"/>
                <a:cs typeface="DM Sans"/>
                <a:sym typeface="DM Sans"/>
              </a:rPr>
              <a:t>Replaces the static pipeline with a 4-agent graph (Planner, Retriever, Critic, Generator).</a:t>
            </a:r>
          </a:p>
          <a:p>
            <a:pPr algn="l">
              <a:lnSpc>
                <a:spcPts val="3920"/>
              </a:lnSpc>
            </a:pPr>
            <a:r>
              <a:rPr lang="en-US" sz="2800" spc="-123">
                <a:solidFill>
                  <a:srgbClr val="000000"/>
                </a:solidFill>
                <a:latin typeface="DM Sans"/>
                <a:ea typeface="DM Sans"/>
                <a:cs typeface="DM Sans"/>
                <a:sym typeface="DM Sans"/>
              </a:rPr>
              <a:t>Introduces a Self-Correcting Critic Agent that grades retrieved evidence and autonomously triggers retry loops to prevent hallucinations.</a:t>
            </a:r>
          </a:p>
          <a:p>
            <a:pPr algn="l">
              <a:lnSpc>
                <a:spcPts val="3920"/>
              </a:lnSpc>
            </a:pPr>
          </a:p>
          <a:p>
            <a:pPr algn="l">
              <a:lnSpc>
                <a:spcPts val="3920"/>
              </a:lnSpc>
            </a:pPr>
            <a:r>
              <a:rPr lang="en-US" b="true" sz="2800" spc="-123">
                <a:solidFill>
                  <a:srgbClr val="000000"/>
                </a:solidFill>
                <a:latin typeface="DM Sans Bold"/>
                <a:ea typeface="DM Sans Bold"/>
                <a:cs typeface="DM Sans Bold"/>
                <a:sym typeface="DM Sans Bold"/>
              </a:rPr>
              <a:t>Multimodal Grounding (Vision Models)</a:t>
            </a:r>
          </a:p>
          <a:p>
            <a:pPr algn="l">
              <a:lnSpc>
                <a:spcPts val="3920"/>
              </a:lnSpc>
            </a:pPr>
          </a:p>
          <a:p>
            <a:pPr algn="l">
              <a:lnSpc>
                <a:spcPts val="3920"/>
              </a:lnSpc>
            </a:pPr>
            <a:r>
              <a:rPr lang="en-US" sz="2800" spc="-123">
                <a:solidFill>
                  <a:srgbClr val="000000"/>
                </a:solidFill>
                <a:latin typeface="DM Sans"/>
                <a:ea typeface="DM Sans"/>
                <a:cs typeface="DM Sans"/>
                <a:sym typeface="DM Sans"/>
              </a:rPr>
              <a:t>Replaces text-only inputs with a multimodal preprocessing layer.</a:t>
            </a:r>
          </a:p>
          <a:p>
            <a:pPr algn="l">
              <a:lnSpc>
                <a:spcPts val="3920"/>
              </a:lnSpc>
            </a:pPr>
            <a:r>
              <a:rPr lang="en-US" sz="2800" spc="-123">
                <a:solidFill>
                  <a:srgbClr val="000000"/>
                </a:solidFill>
                <a:latin typeface="DM Sans"/>
                <a:ea typeface="DM Sans"/>
                <a:cs typeface="DM Sans"/>
                <a:sym typeface="DM Sans"/>
              </a:rPr>
              <a:t>Uses Vision-Language Models (Gemini) and AST parsers to natively ingest CI/CD YAML pipelines, Terraform code, and system architecture diagrams.</a:t>
            </a:r>
          </a:p>
          <a:p>
            <a:pPr algn="l">
              <a:lnSpc>
                <a:spcPts val="3920"/>
              </a:lnSpc>
            </a:pPr>
          </a:p>
          <a:p>
            <a:pPr algn="l">
              <a:lnSpc>
                <a:spcPts val="3920"/>
              </a:lnSpc>
            </a:pPr>
            <a:r>
              <a:rPr lang="en-US" b="true" sz="2800" spc="-123">
                <a:solidFill>
                  <a:srgbClr val="000000"/>
                </a:solidFill>
                <a:latin typeface="DM Sans Bold"/>
                <a:ea typeface="DM Sans Bold"/>
                <a:cs typeface="DM Sans Bold"/>
                <a:sym typeface="DM Sans Bold"/>
              </a:rPr>
              <a:t>The Result:</a:t>
            </a:r>
            <a:r>
              <a:rPr lang="en-US" sz="2800" spc="-123">
                <a:solidFill>
                  <a:srgbClr val="000000"/>
                </a:solidFill>
                <a:latin typeface="DM Sans"/>
                <a:ea typeface="DM Sans"/>
                <a:cs typeface="DM Sans"/>
                <a:sym typeface="DM Sans"/>
              </a:rPr>
              <a:t> A highly precise, 0-hallucination decision-support tool built for actual DevOps workflows.</a:t>
            </a:r>
          </a:p>
        </p:txBody>
      </p:sp>
      <p:sp>
        <p:nvSpPr>
          <p:cNvPr name="Freeform 4" id="4"/>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7413" y="765175"/>
            <a:ext cx="8297704" cy="965200"/>
          </a:xfrm>
          <a:prstGeom prst="rect">
            <a:avLst/>
          </a:prstGeom>
        </p:spPr>
        <p:txBody>
          <a:bodyPr anchor="t" rtlCol="false" tIns="0" lIns="0" bIns="0" rIns="0">
            <a:spAutoFit/>
          </a:bodyPr>
          <a:lstStyle/>
          <a:p>
            <a:pPr algn="ctr">
              <a:lnSpc>
                <a:spcPts val="3199"/>
              </a:lnSpc>
            </a:pPr>
          </a:p>
          <a:p>
            <a:pPr algn="ctr">
              <a:lnSpc>
                <a:spcPts val="3199"/>
              </a:lnSpc>
            </a:pPr>
            <a:r>
              <a:rPr lang="en-US" b="true" sz="3999" spc="-175">
                <a:solidFill>
                  <a:srgbClr val="000000"/>
                </a:solidFill>
                <a:latin typeface="Agrandir Bold"/>
                <a:ea typeface="Agrandir Bold"/>
                <a:cs typeface="Agrandir Bold"/>
                <a:sym typeface="Agrandir Bold"/>
              </a:rPr>
              <a:t>Proposed system - Advantages</a:t>
            </a:r>
          </a:p>
        </p:txBody>
      </p:sp>
      <p:sp>
        <p:nvSpPr>
          <p:cNvPr name="TextBox 3" id="3"/>
          <p:cNvSpPr txBox="true"/>
          <p:nvPr/>
        </p:nvSpPr>
        <p:spPr>
          <a:xfrm rot="0">
            <a:off x="1661525" y="3010759"/>
            <a:ext cx="15903868" cy="5324474"/>
          </a:xfrm>
          <a:prstGeom prst="rect">
            <a:avLst/>
          </a:prstGeom>
        </p:spPr>
        <p:txBody>
          <a:bodyPr anchor="t" rtlCol="false" tIns="0" lIns="0" bIns="0" rIns="0">
            <a:spAutoFit/>
          </a:bodyPr>
          <a:lstStyle/>
          <a:p>
            <a:pPr algn="l">
              <a:lnSpc>
                <a:spcPts val="4200"/>
              </a:lnSpc>
              <a:spcBef>
                <a:spcPct val="0"/>
              </a:spcBef>
            </a:pPr>
            <a:r>
              <a:rPr lang="en-US" b="true" sz="3000" spc="-132">
                <a:solidFill>
                  <a:srgbClr val="000000"/>
                </a:solidFill>
                <a:latin typeface="DM Sans Bold"/>
                <a:ea typeface="DM Sans Bold"/>
                <a:cs typeface="DM Sans Bold"/>
                <a:sym typeface="DM Sans Bold"/>
              </a:rPr>
              <a:t>Self-Correcting Reliability: </a:t>
            </a:r>
            <a:r>
              <a:rPr lang="en-US" sz="3000" spc="-132">
                <a:solidFill>
                  <a:srgbClr val="000000"/>
                </a:solidFill>
                <a:latin typeface="DM Sans"/>
                <a:ea typeface="DM Sans"/>
                <a:cs typeface="DM Sans"/>
                <a:sym typeface="DM Sans"/>
              </a:rPr>
              <a:t>Unlike linear models, MARCO’s Critic Agent detects and corrects irrelevant retrieval in real-time, drastically reducing architectural hallucinations.</a:t>
            </a:r>
          </a:p>
          <a:p>
            <a:pPr algn="l">
              <a:lnSpc>
                <a:spcPts val="4200"/>
              </a:lnSpc>
              <a:spcBef>
                <a:spcPct val="0"/>
              </a:spcBef>
            </a:pPr>
          </a:p>
          <a:p>
            <a:pPr algn="l">
              <a:lnSpc>
                <a:spcPts val="4200"/>
              </a:lnSpc>
              <a:spcBef>
                <a:spcPct val="0"/>
              </a:spcBef>
            </a:pPr>
            <a:r>
              <a:rPr lang="en-US" b="true" sz="3000" spc="-132">
                <a:solidFill>
                  <a:srgbClr val="000000"/>
                </a:solidFill>
                <a:latin typeface="DM Sans Bold"/>
                <a:ea typeface="DM Sans Bold"/>
                <a:cs typeface="DM Sans Bold"/>
                <a:sym typeface="DM Sans Bold"/>
              </a:rPr>
              <a:t>Multimodal Context Awareness:</a:t>
            </a:r>
            <a:r>
              <a:rPr lang="en-US" sz="3000" spc="-132">
                <a:solidFill>
                  <a:srgbClr val="000000"/>
                </a:solidFill>
                <a:latin typeface="DM Sans"/>
                <a:ea typeface="DM Sans"/>
                <a:cs typeface="DM Sans"/>
                <a:sym typeface="DM Sans"/>
              </a:rPr>
              <a:t> The integration of Gemini Vision allows the system to ingest real-world artifacts (YAML, Terraform, Diagrams), providing 50% more architectural context than text-only tools.</a:t>
            </a:r>
          </a:p>
          <a:p>
            <a:pPr algn="l">
              <a:lnSpc>
                <a:spcPts val="4200"/>
              </a:lnSpc>
              <a:spcBef>
                <a:spcPct val="0"/>
              </a:spcBef>
            </a:pPr>
          </a:p>
          <a:p>
            <a:pPr algn="l">
              <a:lnSpc>
                <a:spcPts val="4200"/>
              </a:lnSpc>
              <a:spcBef>
                <a:spcPct val="0"/>
              </a:spcBef>
            </a:pPr>
            <a:r>
              <a:rPr lang="en-US" b="true" sz="3000" spc="-132">
                <a:solidFill>
                  <a:srgbClr val="000000"/>
                </a:solidFill>
                <a:latin typeface="DM Sans Bold"/>
                <a:ea typeface="DM Sans Bold"/>
                <a:cs typeface="DM Sans Bold"/>
                <a:sym typeface="DM Sans Bold"/>
              </a:rPr>
              <a:t>Explainable Reasoning (XAI): </a:t>
            </a:r>
            <a:r>
              <a:rPr lang="en-US" sz="3000" spc="-132">
                <a:solidFill>
                  <a:srgbClr val="000000"/>
                </a:solidFill>
                <a:latin typeface="DM Sans"/>
                <a:ea typeface="DM Sans"/>
                <a:cs typeface="DM Sans"/>
                <a:sym typeface="DM Sans"/>
              </a:rPr>
              <a:t>By generating a Reasoning Trace, MARCO provides a transparent audit trail of why a mapping was chosen, building essential practitioner trust for enterprise deployment.</a:t>
            </a:r>
          </a:p>
        </p:txBody>
      </p:sp>
      <p:sp>
        <p:nvSpPr>
          <p:cNvPr name="Freeform 4" id="4"/>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74646" y="1439916"/>
            <a:ext cx="14656443" cy="8567464"/>
          </a:xfrm>
          <a:custGeom>
            <a:avLst/>
            <a:gdLst/>
            <a:ahLst/>
            <a:cxnLst/>
            <a:rect r="r" b="b" t="t" l="l"/>
            <a:pathLst>
              <a:path h="8567464" w="14656443">
                <a:moveTo>
                  <a:pt x="0" y="0"/>
                </a:moveTo>
                <a:lnTo>
                  <a:pt x="14656443" y="0"/>
                </a:lnTo>
                <a:lnTo>
                  <a:pt x="14656443" y="8567464"/>
                </a:lnTo>
                <a:lnTo>
                  <a:pt x="0" y="8567464"/>
                </a:lnTo>
                <a:lnTo>
                  <a:pt x="0" y="0"/>
                </a:lnTo>
                <a:close/>
              </a:path>
            </a:pathLst>
          </a:custGeom>
          <a:blipFill>
            <a:blip r:embed="rId2"/>
            <a:stretch>
              <a:fillRect l="-2266" t="0" r="-3774" b="0"/>
            </a:stretch>
          </a:blipFill>
        </p:spPr>
      </p:sp>
      <p:sp>
        <p:nvSpPr>
          <p:cNvPr name="TextBox 3" id="3"/>
          <p:cNvSpPr txBox="true"/>
          <p:nvPr/>
        </p:nvSpPr>
        <p:spPr>
          <a:xfrm rot="0">
            <a:off x="2286718" y="559254"/>
            <a:ext cx="13529424" cy="647701"/>
          </a:xfrm>
          <a:prstGeom prst="rect">
            <a:avLst/>
          </a:prstGeom>
        </p:spPr>
        <p:txBody>
          <a:bodyPr anchor="t" rtlCol="false" tIns="0" lIns="0" bIns="0" rIns="0">
            <a:spAutoFit/>
          </a:bodyPr>
          <a:lstStyle/>
          <a:p>
            <a:pPr algn="ctr">
              <a:lnSpc>
                <a:spcPts val="3600"/>
              </a:lnSpc>
            </a:pPr>
            <a:r>
              <a:rPr lang="en-US" b="true" sz="4500" spc="-198">
                <a:solidFill>
                  <a:srgbClr val="000000"/>
                </a:solidFill>
                <a:latin typeface="Agrandir Bold"/>
                <a:ea typeface="Agrandir Bold"/>
                <a:cs typeface="Agrandir Bold"/>
                <a:sym typeface="Agrandir Bold"/>
              </a:rPr>
              <a:t>MARCO system architecture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7654" y="1886831"/>
            <a:ext cx="16789220" cy="7508843"/>
          </a:xfrm>
          <a:prstGeom prst="rect">
            <a:avLst/>
          </a:prstGeom>
        </p:spPr>
        <p:txBody>
          <a:bodyPr anchor="t" rtlCol="false" tIns="0" lIns="0" bIns="0" rIns="0">
            <a:spAutoFit/>
          </a:bodyPr>
          <a:lstStyle/>
          <a:p>
            <a:pPr algn="l">
              <a:lnSpc>
                <a:spcPts val="3501"/>
              </a:lnSpc>
              <a:spcBef>
                <a:spcPct val="0"/>
              </a:spcBef>
            </a:pPr>
            <a:r>
              <a:rPr lang="en-US" b="true" sz="2501" spc="-110">
                <a:solidFill>
                  <a:srgbClr val="000000"/>
                </a:solidFill>
                <a:latin typeface="Agrandir Bold"/>
                <a:ea typeface="Agrandir Bold"/>
                <a:cs typeface="Agrandir Bold"/>
                <a:sym typeface="Agrandir Bold"/>
              </a:rPr>
              <a:t>1. Multimodal Input &amp; Parsing: </a:t>
            </a:r>
            <a:r>
              <a:rPr lang="en-US" sz="2501" spc="-110">
                <a:solidFill>
                  <a:srgbClr val="000000"/>
                </a:solidFill>
                <a:latin typeface="Agrandir"/>
                <a:ea typeface="Agrandir"/>
                <a:cs typeface="Agrandir"/>
                <a:sym typeface="Agrandir"/>
              </a:rPr>
              <a:t>User submits a text query OR uploads an engineering artifact (YAML, Terraform, Diagram).</a:t>
            </a:r>
            <a:r>
              <a:rPr lang="en-US" sz="2501" spc="-110">
                <a:solidFill>
                  <a:srgbClr val="000000"/>
                </a:solidFill>
                <a:latin typeface="Agrandir"/>
                <a:ea typeface="Agrandir"/>
                <a:cs typeface="Agrandir"/>
                <a:sym typeface="Agrandir"/>
              </a:rPr>
              <a:t>Gemini Vision parses the artifact to extract the core architectural intent.</a:t>
            </a:r>
          </a:p>
          <a:p>
            <a:pPr algn="l">
              <a:lnSpc>
                <a:spcPts val="3501"/>
              </a:lnSpc>
              <a:spcBef>
                <a:spcPct val="0"/>
              </a:spcBef>
            </a:pPr>
          </a:p>
          <a:p>
            <a:pPr algn="l">
              <a:lnSpc>
                <a:spcPts val="3501"/>
              </a:lnSpc>
              <a:spcBef>
                <a:spcPct val="0"/>
              </a:spcBef>
            </a:pPr>
            <a:r>
              <a:rPr lang="en-US" b="true" sz="2501" spc="-110">
                <a:solidFill>
                  <a:srgbClr val="000000"/>
                </a:solidFill>
                <a:latin typeface="Agrandir Bold"/>
                <a:ea typeface="Agrandir Bold"/>
                <a:cs typeface="Agrandir Bold"/>
                <a:sym typeface="Agrandir Bold"/>
              </a:rPr>
              <a:t>2. Query Decomposition (Planner Agent):</a:t>
            </a:r>
          </a:p>
          <a:p>
            <a:pPr algn="l">
              <a:lnSpc>
                <a:spcPts val="3501"/>
              </a:lnSpc>
              <a:spcBef>
                <a:spcPct val="0"/>
              </a:spcBef>
            </a:pPr>
            <a:r>
              <a:rPr lang="en-US" sz="2501" spc="-110">
                <a:solidFill>
                  <a:srgbClr val="000000"/>
                </a:solidFill>
                <a:latin typeface="Agrandir"/>
                <a:ea typeface="Agrandir"/>
                <a:cs typeface="Agrandir"/>
                <a:sym typeface="Agrandir"/>
              </a:rPr>
              <a:t>The Planner breaks the complex intent into targeted sub-questions (e.g., separating "deployment" from "observability").</a:t>
            </a:r>
          </a:p>
          <a:p>
            <a:pPr algn="l">
              <a:lnSpc>
                <a:spcPts val="3501"/>
              </a:lnSpc>
              <a:spcBef>
                <a:spcPct val="0"/>
              </a:spcBef>
            </a:pPr>
          </a:p>
          <a:p>
            <a:pPr algn="l">
              <a:lnSpc>
                <a:spcPts val="3501"/>
              </a:lnSpc>
              <a:spcBef>
                <a:spcPct val="0"/>
              </a:spcBef>
            </a:pPr>
            <a:r>
              <a:rPr lang="en-US" b="true" sz="2501" spc="-110">
                <a:solidFill>
                  <a:srgbClr val="000000"/>
                </a:solidFill>
                <a:latin typeface="Agrandir Bold"/>
                <a:ea typeface="Agrandir Bold"/>
                <a:cs typeface="Agrandir Bold"/>
                <a:sym typeface="Agrandir Bold"/>
              </a:rPr>
              <a:t>3. Hybrid Retrieval:</a:t>
            </a:r>
          </a:p>
          <a:p>
            <a:pPr algn="l">
              <a:lnSpc>
                <a:spcPts val="3501"/>
              </a:lnSpc>
              <a:spcBef>
                <a:spcPct val="0"/>
              </a:spcBef>
            </a:pPr>
            <a:r>
              <a:rPr lang="en-US" sz="2501" spc="-110">
                <a:solidFill>
                  <a:srgbClr val="000000"/>
                </a:solidFill>
                <a:latin typeface="Agrandir"/>
                <a:ea typeface="Agrandir"/>
                <a:cs typeface="Agrandir"/>
                <a:sym typeface="Agrandir"/>
              </a:rPr>
              <a:t>The system searches the FAISS/BM25 database to fetch candidate DevOps-MSA mappings from the 200+ concept taxonomy.</a:t>
            </a:r>
          </a:p>
          <a:p>
            <a:pPr algn="l">
              <a:lnSpc>
                <a:spcPts val="3501"/>
              </a:lnSpc>
              <a:spcBef>
                <a:spcPct val="0"/>
              </a:spcBef>
            </a:pPr>
          </a:p>
          <a:p>
            <a:pPr algn="l">
              <a:lnSpc>
                <a:spcPts val="3501"/>
              </a:lnSpc>
              <a:spcBef>
                <a:spcPct val="0"/>
              </a:spcBef>
            </a:pPr>
            <a:r>
              <a:rPr lang="en-US" b="true" sz="2501" spc="-110">
                <a:solidFill>
                  <a:srgbClr val="000000"/>
                </a:solidFill>
                <a:latin typeface="Agrandir Bold"/>
                <a:ea typeface="Agrandir Bold"/>
                <a:cs typeface="Agrandir Bold"/>
                <a:sym typeface="Agrandir Bold"/>
              </a:rPr>
              <a:t>4. Self-Correction Loop (Critic Agent) </a:t>
            </a:r>
          </a:p>
          <a:p>
            <a:pPr algn="l" marL="540025" indent="-270012" lvl="1">
              <a:lnSpc>
                <a:spcPts val="3501"/>
              </a:lnSpc>
              <a:buFont typeface="Arial"/>
              <a:buChar char="•"/>
            </a:pPr>
            <a:r>
              <a:rPr lang="en-US" sz="2501" spc="-110">
                <a:solidFill>
                  <a:srgbClr val="000000"/>
                </a:solidFill>
                <a:latin typeface="Agrandir"/>
                <a:ea typeface="Agrandir"/>
                <a:cs typeface="Agrandir"/>
                <a:sym typeface="Agrandir"/>
              </a:rPr>
              <a:t>The Critic evaluates the relevance of retrieved candidates.</a:t>
            </a:r>
          </a:p>
          <a:p>
            <a:pPr algn="l" marL="540025" indent="-270012" lvl="1">
              <a:lnSpc>
                <a:spcPts val="3501"/>
              </a:lnSpc>
              <a:buFont typeface="Arial"/>
              <a:buChar char="•"/>
            </a:pPr>
            <a:r>
              <a:rPr lang="en-US" sz="2501" spc="-110">
                <a:solidFill>
                  <a:srgbClr val="000000"/>
                </a:solidFill>
                <a:latin typeface="Agrandir"/>
                <a:ea typeface="Agrandir"/>
                <a:cs typeface="Agrandir"/>
                <a:sym typeface="Agrandir"/>
              </a:rPr>
              <a:t>Fail: If relevance is low, it triggers a retry loop to fetch better data.</a:t>
            </a:r>
          </a:p>
          <a:p>
            <a:pPr algn="l" marL="540025" indent="-270012" lvl="1">
              <a:lnSpc>
                <a:spcPts val="3501"/>
              </a:lnSpc>
              <a:buFont typeface="Arial"/>
              <a:buChar char="•"/>
            </a:pPr>
            <a:r>
              <a:rPr lang="en-US" sz="2501" spc="-110">
                <a:solidFill>
                  <a:srgbClr val="000000"/>
                </a:solidFill>
                <a:latin typeface="Agrandir"/>
                <a:ea typeface="Agrandir"/>
                <a:cs typeface="Agrandir"/>
                <a:sym typeface="Agrandir"/>
              </a:rPr>
              <a:t>Pass: If relevance is high, it approves the context.</a:t>
            </a:r>
          </a:p>
          <a:p>
            <a:pPr algn="l">
              <a:lnSpc>
                <a:spcPts val="3501"/>
              </a:lnSpc>
              <a:spcBef>
                <a:spcPct val="0"/>
              </a:spcBef>
            </a:pPr>
          </a:p>
          <a:p>
            <a:pPr algn="l">
              <a:lnSpc>
                <a:spcPts val="3501"/>
              </a:lnSpc>
              <a:spcBef>
                <a:spcPct val="0"/>
              </a:spcBef>
            </a:pPr>
            <a:r>
              <a:rPr lang="en-US" b="true" sz="2501" spc="-110">
                <a:solidFill>
                  <a:srgbClr val="000000"/>
                </a:solidFill>
                <a:latin typeface="Agrandir Bold"/>
                <a:ea typeface="Agrandir Bold"/>
                <a:cs typeface="Agrandir Bold"/>
                <a:sym typeface="Agrandir Bold"/>
              </a:rPr>
              <a:t>5. Synthesis &amp; Explainability (Generator Agent):</a:t>
            </a:r>
          </a:p>
          <a:p>
            <a:pPr algn="l">
              <a:lnSpc>
                <a:spcPts val="3501"/>
              </a:lnSpc>
              <a:spcBef>
                <a:spcPct val="0"/>
              </a:spcBef>
            </a:pPr>
            <a:r>
              <a:rPr lang="en-US" sz="2501" spc="-110">
                <a:solidFill>
                  <a:srgbClr val="000000"/>
                </a:solidFill>
                <a:latin typeface="Agrandir"/>
                <a:ea typeface="Agrandir"/>
                <a:cs typeface="Agrandir"/>
                <a:sym typeface="Agrandir"/>
              </a:rPr>
              <a:t>The Generator outputs the final architectural mapping, citations, and a detailed Reasoning Trace for the user.</a:t>
            </a:r>
          </a:p>
        </p:txBody>
      </p:sp>
      <p:sp>
        <p:nvSpPr>
          <p:cNvPr name="TextBox 3" id="3"/>
          <p:cNvSpPr txBox="true"/>
          <p:nvPr/>
        </p:nvSpPr>
        <p:spPr>
          <a:xfrm rot="0">
            <a:off x="6130836" y="482810"/>
            <a:ext cx="5445419" cy="545890"/>
          </a:xfrm>
          <a:prstGeom prst="rect">
            <a:avLst/>
          </a:prstGeom>
        </p:spPr>
        <p:txBody>
          <a:bodyPr anchor="t" rtlCol="false" tIns="0" lIns="0" bIns="0" rIns="0">
            <a:spAutoFit/>
          </a:bodyPr>
          <a:lstStyle/>
          <a:p>
            <a:pPr algn="ctr">
              <a:lnSpc>
                <a:spcPts val="4493"/>
              </a:lnSpc>
            </a:pPr>
            <a:r>
              <a:rPr lang="en-US" sz="3209" b="true">
                <a:solidFill>
                  <a:srgbClr val="000000"/>
                </a:solidFill>
                <a:latin typeface="Canva Sans Bold"/>
                <a:ea typeface="Canva Sans Bold"/>
                <a:cs typeface="Canva Sans Bold"/>
                <a:sym typeface="Canva Sans Bold"/>
              </a:rPr>
              <a:t>Implementation - Workflow</a:t>
            </a:r>
          </a:p>
        </p:txBody>
      </p:sp>
      <p:sp>
        <p:nvSpPr>
          <p:cNvPr name="Freeform 4" id="4"/>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578054" y="536575"/>
            <a:ext cx="5131891" cy="793750"/>
          </a:xfrm>
          <a:prstGeom prst="rect">
            <a:avLst/>
          </a:prstGeom>
        </p:spPr>
        <p:txBody>
          <a:bodyPr anchor="t" rtlCol="false" tIns="0" lIns="0" bIns="0" rIns="0">
            <a:spAutoFit/>
          </a:bodyPr>
          <a:lstStyle/>
          <a:p>
            <a:pPr algn="ctr">
              <a:lnSpc>
                <a:spcPts val="5599"/>
              </a:lnSpc>
              <a:spcBef>
                <a:spcPct val="0"/>
              </a:spcBef>
            </a:pPr>
            <a:r>
              <a:rPr lang="en-US" b="true" sz="3999" spc="-175">
                <a:solidFill>
                  <a:srgbClr val="000000"/>
                </a:solidFill>
                <a:latin typeface="Agrandir Bold"/>
                <a:ea typeface="Agrandir Bold"/>
                <a:cs typeface="Agrandir Bold"/>
                <a:sym typeface="Agrandir Bold"/>
              </a:rPr>
              <a:t>System Requirements</a:t>
            </a:r>
          </a:p>
        </p:txBody>
      </p:sp>
      <p:sp>
        <p:nvSpPr>
          <p:cNvPr name="TextBox 3" id="3"/>
          <p:cNvSpPr txBox="true"/>
          <p:nvPr/>
        </p:nvSpPr>
        <p:spPr>
          <a:xfrm rot="0">
            <a:off x="1825821" y="1899584"/>
            <a:ext cx="15433479" cy="2957829"/>
          </a:xfrm>
          <a:prstGeom prst="rect">
            <a:avLst/>
          </a:prstGeom>
        </p:spPr>
        <p:txBody>
          <a:bodyPr anchor="t" rtlCol="false" tIns="0" lIns="0" bIns="0" rIns="0">
            <a:spAutoFit/>
          </a:bodyPr>
          <a:lstStyle/>
          <a:p>
            <a:pPr algn="l">
              <a:lnSpc>
                <a:spcPts val="3920"/>
              </a:lnSpc>
              <a:spcBef>
                <a:spcPct val="0"/>
              </a:spcBef>
            </a:pPr>
            <a:r>
              <a:rPr lang="en-US" b="true" sz="2800" spc="-123">
                <a:solidFill>
                  <a:srgbClr val="000000"/>
                </a:solidFill>
                <a:latin typeface="DM Sans Bold"/>
                <a:ea typeface="DM Sans Bold"/>
                <a:cs typeface="DM Sans Bold"/>
                <a:sym typeface="DM Sans Bold"/>
              </a:rPr>
              <a:t>Hardware Requirements (Development Environment)</a:t>
            </a:r>
          </a:p>
          <a:p>
            <a:pPr algn="l">
              <a:lnSpc>
                <a:spcPts val="3920"/>
              </a:lnSpc>
              <a:spcBef>
                <a:spcPct val="0"/>
              </a:spcBef>
            </a:pPr>
          </a:p>
          <a:p>
            <a:pPr algn="l">
              <a:lnSpc>
                <a:spcPts val="3920"/>
              </a:lnSpc>
              <a:spcBef>
                <a:spcPct val="0"/>
              </a:spcBef>
            </a:pPr>
            <a:r>
              <a:rPr lang="en-US" b="true" sz="2800" spc="-123">
                <a:solidFill>
                  <a:srgbClr val="000000"/>
                </a:solidFill>
                <a:latin typeface="DM Sans Bold"/>
                <a:ea typeface="DM Sans Bold"/>
                <a:cs typeface="DM Sans Bold"/>
                <a:sym typeface="DM Sans Bold"/>
              </a:rPr>
              <a:t>Processor</a:t>
            </a:r>
            <a:r>
              <a:rPr lang="en-US" sz="2800" spc="-123">
                <a:solidFill>
                  <a:srgbClr val="000000"/>
                </a:solidFill>
                <a:latin typeface="DM Sans"/>
                <a:ea typeface="DM Sans"/>
                <a:cs typeface="DM Sans"/>
                <a:sym typeface="DM Sans"/>
              </a:rPr>
              <a:t>: Intel Core i5-13420H (8 Cores, up to 4.6GHz)</a:t>
            </a:r>
          </a:p>
          <a:p>
            <a:pPr algn="l">
              <a:lnSpc>
                <a:spcPts val="3920"/>
              </a:lnSpc>
              <a:spcBef>
                <a:spcPct val="0"/>
              </a:spcBef>
            </a:pPr>
            <a:r>
              <a:rPr lang="en-US" b="true" sz="2800" spc="-123">
                <a:solidFill>
                  <a:srgbClr val="000000"/>
                </a:solidFill>
                <a:latin typeface="DM Sans Bold"/>
                <a:ea typeface="DM Sans Bold"/>
                <a:cs typeface="DM Sans Bold"/>
                <a:sym typeface="DM Sans Bold"/>
              </a:rPr>
              <a:t>Memory:</a:t>
            </a:r>
            <a:r>
              <a:rPr lang="en-US" sz="2800" spc="-123">
                <a:solidFill>
                  <a:srgbClr val="000000"/>
                </a:solidFill>
                <a:latin typeface="DM Sans"/>
                <a:ea typeface="DM Sans"/>
                <a:cs typeface="DM Sans"/>
                <a:sym typeface="DM Sans"/>
              </a:rPr>
              <a:t> 16GB DDR5 RAM (Crucial for running local vector databases and LangGraph states)</a:t>
            </a:r>
          </a:p>
          <a:p>
            <a:pPr algn="l">
              <a:lnSpc>
                <a:spcPts val="3920"/>
              </a:lnSpc>
              <a:spcBef>
                <a:spcPct val="0"/>
              </a:spcBef>
            </a:pPr>
            <a:r>
              <a:rPr lang="en-US" b="true" sz="2800" spc="-123">
                <a:solidFill>
                  <a:srgbClr val="000000"/>
                </a:solidFill>
                <a:latin typeface="DM Sans Bold"/>
                <a:ea typeface="DM Sans Bold"/>
                <a:cs typeface="DM Sans Bold"/>
                <a:sym typeface="DM Sans Bold"/>
              </a:rPr>
              <a:t>Graphics:</a:t>
            </a:r>
            <a:r>
              <a:rPr lang="en-US" sz="2800" spc="-123">
                <a:solidFill>
                  <a:srgbClr val="000000"/>
                </a:solidFill>
                <a:latin typeface="DM Sans"/>
                <a:ea typeface="DM Sans"/>
                <a:cs typeface="DM Sans"/>
                <a:sym typeface="DM Sans"/>
              </a:rPr>
              <a:t> NVIDIA GeForce RTX 4050 (6GB VRAM) (Used for local embedding acceleration)</a:t>
            </a:r>
          </a:p>
          <a:p>
            <a:pPr algn="l">
              <a:lnSpc>
                <a:spcPts val="3920"/>
              </a:lnSpc>
              <a:spcBef>
                <a:spcPct val="0"/>
              </a:spcBef>
            </a:pPr>
            <a:r>
              <a:rPr lang="en-US" b="true" sz="2800" spc="-123">
                <a:solidFill>
                  <a:srgbClr val="000000"/>
                </a:solidFill>
                <a:latin typeface="DM Sans Bold"/>
                <a:ea typeface="DM Sans Bold"/>
                <a:cs typeface="DM Sans Bold"/>
                <a:sym typeface="DM Sans Bold"/>
              </a:rPr>
              <a:t>Storage:</a:t>
            </a:r>
            <a:r>
              <a:rPr lang="en-US" sz="2800" spc="-123">
                <a:solidFill>
                  <a:srgbClr val="000000"/>
                </a:solidFill>
                <a:latin typeface="DM Sans"/>
                <a:ea typeface="DM Sans"/>
                <a:cs typeface="DM Sans"/>
                <a:sym typeface="DM Sans"/>
              </a:rPr>
              <a:t> 512GB NVMe SSD (High-speed I/O for FAISS/ChromaDB indexing)</a:t>
            </a:r>
          </a:p>
        </p:txBody>
      </p:sp>
      <p:sp>
        <p:nvSpPr>
          <p:cNvPr name="TextBox 4" id="4"/>
          <p:cNvSpPr txBox="true"/>
          <p:nvPr/>
        </p:nvSpPr>
        <p:spPr>
          <a:xfrm rot="0">
            <a:off x="1825821" y="5536600"/>
            <a:ext cx="15545453" cy="4015104"/>
          </a:xfrm>
          <a:prstGeom prst="rect">
            <a:avLst/>
          </a:prstGeom>
        </p:spPr>
        <p:txBody>
          <a:bodyPr anchor="t" rtlCol="false" tIns="0" lIns="0" bIns="0" rIns="0">
            <a:spAutoFit/>
          </a:bodyPr>
          <a:lstStyle/>
          <a:p>
            <a:pPr algn="l">
              <a:lnSpc>
                <a:spcPts val="3920"/>
              </a:lnSpc>
              <a:spcBef>
                <a:spcPct val="0"/>
              </a:spcBef>
            </a:pPr>
            <a:r>
              <a:rPr lang="en-US" b="true" sz="2800" spc="-123">
                <a:solidFill>
                  <a:srgbClr val="000000"/>
                </a:solidFill>
                <a:latin typeface="Agrandir Bold"/>
                <a:ea typeface="Agrandir Bold"/>
                <a:cs typeface="Agrandir Bold"/>
                <a:sym typeface="Agrandir Bold"/>
              </a:rPr>
              <a:t>Software Requirements (Tech Stack) :</a:t>
            </a:r>
          </a:p>
          <a:p>
            <a:pPr algn="l">
              <a:lnSpc>
                <a:spcPts val="3920"/>
              </a:lnSpc>
              <a:spcBef>
                <a:spcPct val="0"/>
              </a:spcBef>
            </a:pPr>
          </a:p>
          <a:p>
            <a:pPr algn="l">
              <a:lnSpc>
                <a:spcPts val="3920"/>
              </a:lnSpc>
              <a:spcBef>
                <a:spcPct val="0"/>
              </a:spcBef>
            </a:pPr>
            <a:r>
              <a:rPr lang="en-US" b="true" sz="2800" spc="-123">
                <a:solidFill>
                  <a:srgbClr val="000000"/>
                </a:solidFill>
                <a:latin typeface="Agrandir Bold"/>
                <a:ea typeface="Agrandir Bold"/>
                <a:cs typeface="Agrandir Bold"/>
                <a:sym typeface="Agrandir Bold"/>
              </a:rPr>
              <a:t>Operating System: </a:t>
            </a:r>
            <a:r>
              <a:rPr lang="en-US" sz="2800" spc="-123">
                <a:solidFill>
                  <a:srgbClr val="000000"/>
                </a:solidFill>
                <a:latin typeface="Agrandir"/>
                <a:ea typeface="Agrandir"/>
                <a:cs typeface="Agrandir"/>
                <a:sym typeface="Agrandir"/>
              </a:rPr>
              <a:t>Windows 11 / Ubuntu 22.04 LTS</a:t>
            </a:r>
          </a:p>
          <a:p>
            <a:pPr algn="l">
              <a:lnSpc>
                <a:spcPts val="3920"/>
              </a:lnSpc>
              <a:spcBef>
                <a:spcPct val="0"/>
              </a:spcBef>
            </a:pPr>
            <a:r>
              <a:rPr lang="en-US" b="true" sz="2800" spc="-123">
                <a:solidFill>
                  <a:srgbClr val="000000"/>
                </a:solidFill>
                <a:latin typeface="Agrandir Bold"/>
                <a:ea typeface="Agrandir Bold"/>
                <a:cs typeface="Agrandir Bold"/>
                <a:sym typeface="Agrandir Bold"/>
              </a:rPr>
              <a:t>Language</a:t>
            </a:r>
            <a:r>
              <a:rPr lang="en-US" sz="2800" spc="-123">
                <a:solidFill>
                  <a:srgbClr val="000000"/>
                </a:solidFill>
                <a:latin typeface="Agrandir"/>
                <a:ea typeface="Agrandir"/>
                <a:cs typeface="Agrandir"/>
                <a:sym typeface="Agrandir"/>
              </a:rPr>
              <a:t>: Python 3.10+</a:t>
            </a:r>
          </a:p>
          <a:p>
            <a:pPr algn="l">
              <a:lnSpc>
                <a:spcPts val="3920"/>
              </a:lnSpc>
              <a:spcBef>
                <a:spcPct val="0"/>
              </a:spcBef>
            </a:pPr>
            <a:r>
              <a:rPr lang="en-US" b="true" sz="2800" spc="-123">
                <a:solidFill>
                  <a:srgbClr val="000000"/>
                </a:solidFill>
                <a:latin typeface="Agrandir Bold"/>
                <a:ea typeface="Agrandir Bold"/>
                <a:cs typeface="Agrandir Bold"/>
                <a:sym typeface="Agrandir Bold"/>
              </a:rPr>
              <a:t>Orchestration: </a:t>
            </a:r>
            <a:r>
              <a:rPr lang="en-US" sz="2800" spc="-123">
                <a:solidFill>
                  <a:srgbClr val="000000"/>
                </a:solidFill>
                <a:latin typeface="Agrandir"/>
                <a:ea typeface="Agrandir"/>
                <a:cs typeface="Agrandir"/>
                <a:sym typeface="Agrandir"/>
              </a:rPr>
              <a:t>LangGraph (Stateful Multi-Agent Framework)</a:t>
            </a:r>
          </a:p>
          <a:p>
            <a:pPr algn="l">
              <a:lnSpc>
                <a:spcPts val="3920"/>
              </a:lnSpc>
              <a:spcBef>
                <a:spcPct val="0"/>
              </a:spcBef>
            </a:pPr>
            <a:r>
              <a:rPr lang="en-US" b="true" sz="2800" spc="-123">
                <a:solidFill>
                  <a:srgbClr val="000000"/>
                </a:solidFill>
                <a:latin typeface="Agrandir Bold"/>
                <a:ea typeface="Agrandir Bold"/>
                <a:cs typeface="Agrandir Bold"/>
                <a:sym typeface="Agrandir Bold"/>
              </a:rPr>
              <a:t>LLMs &amp; Vision: </a:t>
            </a:r>
            <a:r>
              <a:rPr lang="en-US" sz="2800" spc="-123">
                <a:solidFill>
                  <a:srgbClr val="000000"/>
                </a:solidFill>
                <a:latin typeface="Agrandir"/>
                <a:ea typeface="Agrandir"/>
                <a:cs typeface="Agrandir"/>
                <a:sym typeface="Agrandir"/>
              </a:rPr>
              <a:t>Groq (Llama-3) for rapid reasoning and Gemini 2.0 Flash for multimodal artifact parsing.</a:t>
            </a:r>
          </a:p>
          <a:p>
            <a:pPr algn="l">
              <a:lnSpc>
                <a:spcPts val="3920"/>
              </a:lnSpc>
              <a:spcBef>
                <a:spcPct val="0"/>
              </a:spcBef>
            </a:pPr>
            <a:r>
              <a:rPr lang="en-US" b="true" sz="2800" spc="-123">
                <a:solidFill>
                  <a:srgbClr val="000000"/>
                </a:solidFill>
                <a:latin typeface="Agrandir Bold"/>
                <a:ea typeface="Agrandir Bold"/>
                <a:cs typeface="Agrandir Bold"/>
                <a:sym typeface="Agrandir Bold"/>
              </a:rPr>
              <a:t>Vector Database:</a:t>
            </a:r>
            <a:r>
              <a:rPr lang="en-US" sz="2800" spc="-123">
                <a:solidFill>
                  <a:srgbClr val="000000"/>
                </a:solidFill>
                <a:latin typeface="Agrandir"/>
                <a:ea typeface="Agrandir"/>
                <a:cs typeface="Agrandir"/>
                <a:sym typeface="Agrandir"/>
              </a:rPr>
              <a:t> FAISS / ChromaDB (Hybrid Dense-Sparse retrieval)</a:t>
            </a:r>
          </a:p>
          <a:p>
            <a:pPr algn="l">
              <a:lnSpc>
                <a:spcPts val="3920"/>
              </a:lnSpc>
              <a:spcBef>
                <a:spcPct val="0"/>
              </a:spcBef>
            </a:pPr>
            <a:r>
              <a:rPr lang="en-US" b="true" sz="2800" spc="-123">
                <a:solidFill>
                  <a:srgbClr val="000000"/>
                </a:solidFill>
                <a:latin typeface="Agrandir Bold"/>
                <a:ea typeface="Agrandir Bold"/>
                <a:cs typeface="Agrandir Bold"/>
                <a:sym typeface="Agrandir Bold"/>
              </a:rPr>
              <a:t>Environment: </a:t>
            </a:r>
            <a:r>
              <a:rPr lang="en-US" sz="2800" spc="-123">
                <a:solidFill>
                  <a:srgbClr val="000000"/>
                </a:solidFill>
                <a:latin typeface="Agrandir"/>
                <a:ea typeface="Agrandir"/>
                <a:cs typeface="Agrandir"/>
                <a:sym typeface="Agrandir"/>
              </a:rPr>
              <a:t>VS Code with Jupyter Notebooks for evaluation testing.</a:t>
            </a:r>
          </a:p>
        </p:txBody>
      </p:sp>
      <p:sp>
        <p:nvSpPr>
          <p:cNvPr name="Freeform 5" id="5"/>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367321" y="1590960"/>
            <a:ext cx="8297704" cy="1110687"/>
          </a:xfrm>
          <a:prstGeom prst="rect">
            <a:avLst/>
          </a:prstGeom>
        </p:spPr>
        <p:txBody>
          <a:bodyPr anchor="t" rtlCol="false" tIns="0" lIns="0" bIns="0" rIns="0">
            <a:spAutoFit/>
          </a:bodyPr>
          <a:lstStyle/>
          <a:p>
            <a:pPr algn="ctr">
              <a:lnSpc>
                <a:spcPts val="6241"/>
              </a:lnSpc>
            </a:pPr>
            <a:r>
              <a:rPr lang="en-US" b="true" sz="7801" spc="-343">
                <a:solidFill>
                  <a:srgbClr val="000000"/>
                </a:solidFill>
                <a:latin typeface="Agrandir Bold"/>
                <a:ea typeface="Agrandir Bold"/>
                <a:cs typeface="Agrandir Bold"/>
                <a:sym typeface="Agrandir Bold"/>
              </a:rPr>
              <a:t>Conclusion</a:t>
            </a:r>
          </a:p>
        </p:txBody>
      </p:sp>
      <p:sp>
        <p:nvSpPr>
          <p:cNvPr name="TextBox 3" id="3"/>
          <p:cNvSpPr txBox="true"/>
          <p:nvPr/>
        </p:nvSpPr>
        <p:spPr>
          <a:xfrm rot="0">
            <a:off x="1491145" y="2945072"/>
            <a:ext cx="15305710" cy="3616209"/>
          </a:xfrm>
          <a:prstGeom prst="rect">
            <a:avLst/>
          </a:prstGeom>
        </p:spPr>
        <p:txBody>
          <a:bodyPr anchor="t" rtlCol="false" tIns="0" lIns="0" bIns="0" rIns="0">
            <a:spAutoFit/>
          </a:bodyPr>
          <a:lstStyle/>
          <a:p>
            <a:pPr algn="just">
              <a:lnSpc>
                <a:spcPts val="4160"/>
              </a:lnSpc>
            </a:pPr>
            <a:r>
              <a:rPr lang="en-US" sz="2667" spc="-90">
                <a:solidFill>
                  <a:srgbClr val="000000"/>
                </a:solidFill>
                <a:latin typeface="DM Sans"/>
                <a:ea typeface="DM Sans"/>
                <a:cs typeface="DM Sans"/>
                <a:sym typeface="DM Sans"/>
              </a:rPr>
              <a:t>We ar</a:t>
            </a:r>
            <a:r>
              <a:rPr lang="en-US" sz="2667" spc="-90">
                <a:solidFill>
                  <a:srgbClr val="000000"/>
                </a:solidFill>
                <a:latin typeface="DM Sans"/>
                <a:ea typeface="DM Sans"/>
                <a:cs typeface="DM Sans"/>
                <a:sym typeface="DM Sans"/>
              </a:rPr>
              <a:t>e currently prototyping the MARCO framework by developing a stateful LangGraph multi-agent architecture to replace traditional linear RAG pipelines for DevOps-MSA alignment. Preliminary testing of our core retrieval loop shows promising results, successfully outperforming the baseline with a top-5 precision of 0.18. However, our initial automated evaluations also identified a 24% hallucination rate, which provides a clear data-driven target for our active development phase. Our immediate roadmap focuses on refining the Critic Agent's verification thresholds to eliminate these hallucinations and fully integrating Gemini Vision to process live multimodal engineering artifacts.</a:t>
            </a:r>
          </a:p>
        </p:txBody>
      </p:sp>
      <p:sp>
        <p:nvSpPr>
          <p:cNvPr name="Freeform 4" id="4"/>
          <p:cNvSpPr/>
          <p:nvPr/>
        </p:nvSpPr>
        <p:spPr>
          <a:xfrm flipH="false" flipV="false" rot="0">
            <a:off x="-209273" y="3280070"/>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8471887" y="6200247"/>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754150" y="3680571"/>
            <a:ext cx="12779699" cy="2179960"/>
          </a:xfrm>
          <a:prstGeom prst="rect">
            <a:avLst/>
          </a:prstGeom>
        </p:spPr>
        <p:txBody>
          <a:bodyPr anchor="t" rtlCol="false" tIns="0" lIns="0" bIns="0" rIns="0">
            <a:spAutoFit/>
          </a:bodyPr>
          <a:lstStyle/>
          <a:p>
            <a:pPr algn="ctr">
              <a:lnSpc>
                <a:spcPts val="12280"/>
              </a:lnSpc>
            </a:pPr>
            <a:r>
              <a:rPr lang="en-US" b="true" sz="15350" spc="-675">
                <a:solidFill>
                  <a:srgbClr val="000000"/>
                </a:solidFill>
                <a:latin typeface="Agrandir Bold"/>
                <a:ea typeface="Agrandir Bold"/>
                <a:cs typeface="Agrandir Bold"/>
                <a:sym typeface="Agrandir Bold"/>
              </a:rPr>
              <a:t>Thank You</a:t>
            </a:r>
          </a:p>
        </p:txBody>
      </p:sp>
      <p:sp>
        <p:nvSpPr>
          <p:cNvPr name="TextBox 4" id="4"/>
          <p:cNvSpPr txBox="true"/>
          <p:nvPr/>
        </p:nvSpPr>
        <p:spPr>
          <a:xfrm rot="0">
            <a:off x="4243940" y="6013278"/>
            <a:ext cx="9800119" cy="767780"/>
          </a:xfrm>
          <a:prstGeom prst="rect">
            <a:avLst/>
          </a:prstGeom>
        </p:spPr>
        <p:txBody>
          <a:bodyPr anchor="t" rtlCol="false" tIns="0" lIns="0" bIns="0" rIns="0">
            <a:spAutoFit/>
          </a:bodyPr>
          <a:lstStyle/>
          <a:p>
            <a:pPr algn="ctr">
              <a:lnSpc>
                <a:spcPts val="5852"/>
              </a:lnSpc>
            </a:pPr>
            <a:r>
              <a:rPr lang="en-US" b="true" sz="5852" spc="-257">
                <a:solidFill>
                  <a:srgbClr val="000000"/>
                </a:solidFill>
                <a:latin typeface="DM Sans Bold"/>
                <a:ea typeface="DM Sans Bold"/>
                <a:cs typeface="DM Sans Bold"/>
                <a:sym typeface="DM Sans Bold"/>
              </a:rPr>
              <a:t>For your attention</a:t>
            </a:r>
          </a:p>
        </p:txBody>
      </p:sp>
      <p:sp>
        <p:nvSpPr>
          <p:cNvPr name="Freeform 5" id="5"/>
          <p:cNvSpPr/>
          <p:nvPr/>
        </p:nvSpPr>
        <p:spPr>
          <a:xfrm flipH="true" flipV="true" rot="0">
            <a:off x="17727341" y="3383088"/>
            <a:ext cx="2760657" cy="4114800"/>
          </a:xfrm>
          <a:custGeom>
            <a:avLst/>
            <a:gdLst/>
            <a:ahLst/>
            <a:cxnLst/>
            <a:rect r="r" b="b" t="t" l="l"/>
            <a:pathLst>
              <a:path h="4114800" w="2760657">
                <a:moveTo>
                  <a:pt x="2760657" y="4114800"/>
                </a:moveTo>
                <a:lnTo>
                  <a:pt x="0" y="4114800"/>
                </a:lnTo>
                <a:lnTo>
                  <a:pt x="0" y="0"/>
                </a:lnTo>
                <a:lnTo>
                  <a:pt x="2760657" y="0"/>
                </a:lnTo>
                <a:lnTo>
                  <a:pt x="2760657"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DAG-If85RDA</dc:identifier>
  <dcterms:modified xsi:type="dcterms:W3CDTF">2011-08-01T06:04:30Z</dcterms:modified>
  <cp:revision>1</cp:revision>
  <dc:title>White Yellow Simple Modern Research Project Presentation</dc:title>
</cp:coreProperties>
</file>